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Lexend SemiBold"/>
      <p:regular r:id="rId28"/>
      <p:bold r:id="rId29"/>
    </p:embeddedFont>
    <p:embeddedFont>
      <p:font typeface="Nunito"/>
      <p:regular r:id="rId30"/>
      <p:bold r:id="rId31"/>
      <p:italic r:id="rId32"/>
      <p:boldItalic r:id="rId33"/>
    </p:embeddedFont>
    <p:embeddedFont>
      <p:font typeface="Lexen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262421-A0B6-4BCB-A1D6-9E8262A1336B}">
  <a:tblStyle styleId="{BD262421-A0B6-4BCB-A1D6-9E8262A133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SemiBol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5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4.xml"/><Relationship Id="rId32" Type="http://schemas.openxmlformats.org/officeDocument/2006/relationships/font" Target="fonts/Nunito-italic.fntdata"/><Relationship Id="rId13" Type="http://schemas.openxmlformats.org/officeDocument/2006/relationships/slide" Target="slides/slide7.xml"/><Relationship Id="rId35" Type="http://schemas.openxmlformats.org/officeDocument/2006/relationships/font" Target="fonts/Lexend-bold.fntdata"/><Relationship Id="rId12" Type="http://schemas.openxmlformats.org/officeDocument/2006/relationships/slide" Target="slides/slide6.xml"/><Relationship Id="rId34" Type="http://schemas.openxmlformats.org/officeDocument/2006/relationships/font" Target="fonts/Lexend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iabetes.org.uk/about-diabetes/type-2-diabetes/preventing" TargetMode="External"/><Relationship Id="rId3" Type="http://schemas.openxmlformats.org/officeDocument/2006/relationships/hyperlink" Target="https://www.who.int/news-room/fact-sheets/detail/diabetes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ralogix.com/ai-blog/recall-a-key-metric-for-evaluating-model-performance/" TargetMode="External"/><Relationship Id="rId3" Type="http://schemas.openxmlformats.org/officeDocument/2006/relationships/hyperlink" Target="https://coralogix.com/ai-blog/recall-a-key-metric-for-evaluating-model-performance/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ralogix.com/ai-blog/recall-a-key-metric-for-evaluating-model-performance/" TargetMode="External"/><Relationship Id="rId3" Type="http://schemas.openxmlformats.org/officeDocument/2006/relationships/hyperlink" Target="https://coralogix.com/ai-blog/recall-a-key-metric-for-evaluating-model-performance/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ca3fd0e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aca3fd0e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ca3fd0e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aca3fd0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[1]- sourced from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https://unsplash.com/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[2] [3] - generated by AI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ca3fd0e0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ca3fd0e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[4]- sourced from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https://unsplash.com/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cb9bd241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cb9bd241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cb9bd241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acb9bd241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https://www.diabetes.org.uk/about-diabetes/type-2-diabetes/preventing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https://www.who.int/news-room/fact-sheets/detail/diabetes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1D1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1D1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D1D1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cb9bd241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acb9bd241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cb9bd241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acb9bd241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cb9bd241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cb9bd241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D1D1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cb9bd241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acb9bd241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[5]- sourced from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https://unsplash.com/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d0864dca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ad0864dca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https://coralogix.com/ai-blog/recall-a-key-metric-for-evaluating-model-performance/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[6] sourced from same link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https://coralogix.com/ai-blog/recall-a-key-metric-for-evaluating-model-performance/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D1D1D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ad0864dca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ad0864dca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https://coralogix.com/ai-blog/recall-a-key-metric-for-evaluating-model-performance/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[6] sourced from same link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https://coralogix.com/ai-blog/recall-a-key-metric-for-evaluating-model-performance/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d9c5c610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ad9c5c610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d0864dca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d0864dca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d0864dca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ad0864dca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cb9bd2419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acb9bd241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Lexend"/>
              <a:buChar char="●"/>
            </a:pPr>
            <a:r>
              <a:t/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ad0864dca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ad0864dca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d0864dcac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ad0864dca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d0864dcac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d0864dcac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acb9bd2419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acb9bd2419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[7]- sourced from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https://unsplash.com/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db3d9e1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adb3d9e1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D1D1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aca3fd0e0f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aca3fd0e0f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643200" y="659425"/>
            <a:ext cx="3146400" cy="1091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671825" y="727744"/>
            <a:ext cx="31176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2216400" y="1750725"/>
            <a:ext cx="4711200" cy="2187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1686400" y="1750825"/>
            <a:ext cx="528900" cy="528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927600" y="2843900"/>
            <a:ext cx="528900" cy="109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2258050" y="1800075"/>
            <a:ext cx="46239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ITLE_3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304800" y="3161075"/>
            <a:ext cx="2851500" cy="16791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99150" y="3161050"/>
            <a:ext cx="2840100" cy="167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156175" y="3161150"/>
            <a:ext cx="2851500" cy="1679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14208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/>
          <p:nvPr>
            <p:ph idx="2" type="pic"/>
          </p:nvPr>
        </p:nvSpPr>
        <p:spPr>
          <a:xfrm>
            <a:off x="3076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3"/>
          <p:cNvSpPr txBox="1"/>
          <p:nvPr>
            <p:ph idx="3" type="body"/>
          </p:nvPr>
        </p:nvSpPr>
        <p:spPr>
          <a:xfrm>
            <a:off x="3164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4" type="pic"/>
          </p:nvPr>
        </p:nvSpPr>
        <p:spPr>
          <a:xfrm>
            <a:off x="31591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"/>
          <p:cNvSpPr/>
          <p:nvPr>
            <p:ph idx="5" type="pic"/>
          </p:nvPr>
        </p:nvSpPr>
        <p:spPr>
          <a:xfrm>
            <a:off x="6010625" y="1316450"/>
            <a:ext cx="28287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04800" y="305325"/>
            <a:ext cx="2851500" cy="1009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159125" y="811350"/>
            <a:ext cx="1159500" cy="502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328518" y="361238"/>
            <a:ext cx="2720700" cy="1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6" type="subTitle"/>
          </p:nvPr>
        </p:nvSpPr>
        <p:spPr>
          <a:xfrm>
            <a:off x="3156683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7" type="body"/>
          </p:nvPr>
        </p:nvSpPr>
        <p:spPr>
          <a:xfrm>
            <a:off x="3158960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8" type="subTitle"/>
          </p:nvPr>
        </p:nvSpPr>
        <p:spPr>
          <a:xfrm>
            <a:off x="6007809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9" type="body"/>
          </p:nvPr>
        </p:nvSpPr>
        <p:spPr>
          <a:xfrm>
            <a:off x="60100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1 Overview">
  <p:cSld name="TITLE_3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1172300" y="660200"/>
            <a:ext cx="47112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883500" y="1756696"/>
            <a:ext cx="1224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1195425" y="734045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4"/>
          <p:cNvSpPr/>
          <p:nvPr>
            <p:ph idx="2" type="pic"/>
          </p:nvPr>
        </p:nvSpPr>
        <p:spPr>
          <a:xfrm>
            <a:off x="3260500" y="2309850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"/>
          <p:cNvSpPr/>
          <p:nvPr>
            <p:ph idx="3" type="pic"/>
          </p:nvPr>
        </p:nvSpPr>
        <p:spPr>
          <a:xfrm>
            <a:off x="4849525" y="2309850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3523325" y="2195625"/>
            <a:ext cx="4990200" cy="2385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420210" y="220220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78750" y="56225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378750" y="56225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5"/>
          <p:cNvSpPr/>
          <p:nvPr/>
        </p:nvSpPr>
        <p:spPr>
          <a:xfrm>
            <a:off x="3523323" y="165420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3623075" y="2300000"/>
            <a:ext cx="47907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" name="Google Shape;52;p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2 Overview">
  <p:cSld name="TITLE_3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>
            <p:ph idx="2" type="pic"/>
          </p:nvPr>
        </p:nvSpPr>
        <p:spPr>
          <a:xfrm>
            <a:off x="3793600" y="2297107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6"/>
          <p:cNvSpPr/>
          <p:nvPr>
            <p:ph idx="3" type="pic"/>
          </p:nvPr>
        </p:nvSpPr>
        <p:spPr>
          <a:xfrm>
            <a:off x="663400" y="2297107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6"/>
          <p:cNvSpPr/>
          <p:nvPr/>
        </p:nvSpPr>
        <p:spPr>
          <a:xfrm>
            <a:off x="1689800" y="660200"/>
            <a:ext cx="4711200" cy="16398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160900" y="1757477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1721834" y="727054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Overview (5)">
  <p:cSld name="TITLE_3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298300" y="1431975"/>
            <a:ext cx="1713600" cy="1890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5431665" y="1431975"/>
            <a:ext cx="1713600" cy="1890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7137667" y="1431975"/>
            <a:ext cx="1713600" cy="1890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2011981" y="1431975"/>
            <a:ext cx="1713600" cy="1890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717983" y="1431975"/>
            <a:ext cx="1713600" cy="1890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310891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2" type="body"/>
          </p:nvPr>
        </p:nvSpPr>
        <p:spPr>
          <a:xfrm>
            <a:off x="544426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3" type="body"/>
          </p:nvPr>
        </p:nvSpPr>
        <p:spPr>
          <a:xfrm>
            <a:off x="7105524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4" type="body"/>
          </p:nvPr>
        </p:nvSpPr>
        <p:spPr>
          <a:xfrm>
            <a:off x="2037027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5" type="body"/>
          </p:nvPr>
        </p:nvSpPr>
        <p:spPr>
          <a:xfrm>
            <a:off x="372795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6" type="pic"/>
          </p:nvPr>
        </p:nvSpPr>
        <p:spPr>
          <a:xfrm>
            <a:off x="7137800" y="3322275"/>
            <a:ext cx="17136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"/>
          <p:cNvSpPr/>
          <p:nvPr>
            <p:ph idx="7" type="pic"/>
          </p:nvPr>
        </p:nvSpPr>
        <p:spPr>
          <a:xfrm>
            <a:off x="5427747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"/>
          <p:cNvSpPr/>
          <p:nvPr>
            <p:ph idx="8" type="pic"/>
          </p:nvPr>
        </p:nvSpPr>
        <p:spPr>
          <a:xfrm>
            <a:off x="3723042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"/>
          <p:cNvSpPr/>
          <p:nvPr>
            <p:ph idx="9" type="pic"/>
          </p:nvPr>
        </p:nvSpPr>
        <p:spPr>
          <a:xfrm>
            <a:off x="2011891" y="3322275"/>
            <a:ext cx="1728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"/>
          <p:cNvSpPr/>
          <p:nvPr>
            <p:ph idx="13" type="pic"/>
          </p:nvPr>
        </p:nvSpPr>
        <p:spPr>
          <a:xfrm>
            <a:off x="298300" y="3322275"/>
            <a:ext cx="1716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298300" y="301050"/>
            <a:ext cx="40203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9178" y="338025"/>
            <a:ext cx="4039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Goal">
  <p:cSld name="TITLE_3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298312" y="301050"/>
            <a:ext cx="5646900" cy="5310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8"/>
          <p:cNvSpPr txBox="1"/>
          <p:nvPr>
            <p:ph type="title"/>
          </p:nvPr>
        </p:nvSpPr>
        <p:spPr>
          <a:xfrm>
            <a:off x="279185" y="31227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8"/>
          <p:cNvSpPr/>
          <p:nvPr/>
        </p:nvSpPr>
        <p:spPr>
          <a:xfrm>
            <a:off x="4463246" y="3362570"/>
            <a:ext cx="1190400" cy="976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5653655" y="3362561"/>
            <a:ext cx="487500" cy="478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4463250" y="1056975"/>
            <a:ext cx="4371300" cy="2305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4481951" y="1068225"/>
            <a:ext cx="4338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/>
          <p:nvPr>
            <p:ph idx="2" type="pic"/>
          </p:nvPr>
        </p:nvSpPr>
        <p:spPr>
          <a:xfrm>
            <a:off x="298300" y="1055350"/>
            <a:ext cx="4165800" cy="3783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"/>
          <p:cNvSpPr txBox="1"/>
          <p:nvPr>
            <p:ph idx="3" type="body"/>
          </p:nvPr>
        </p:nvSpPr>
        <p:spPr>
          <a:xfrm>
            <a:off x="4484120" y="1667497"/>
            <a:ext cx="4338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8"/>
          <p:cNvSpPr txBox="1"/>
          <p:nvPr>
            <p:ph idx="4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 Detailed Outline + Key Features">
  <p:cSld name="TITLE_3_1_1_1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idx="1" type="subTitle"/>
          </p:nvPr>
        </p:nvSpPr>
        <p:spPr>
          <a:xfrm>
            <a:off x="6076827" y="986538"/>
            <a:ext cx="25152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2" type="subTitle"/>
          </p:nvPr>
        </p:nvSpPr>
        <p:spPr>
          <a:xfrm>
            <a:off x="194675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subTitle"/>
          </p:nvPr>
        </p:nvSpPr>
        <p:spPr>
          <a:xfrm>
            <a:off x="1178298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subTitle"/>
          </p:nvPr>
        </p:nvSpPr>
        <p:spPr>
          <a:xfrm>
            <a:off x="2161921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5" type="subTitle"/>
          </p:nvPr>
        </p:nvSpPr>
        <p:spPr>
          <a:xfrm>
            <a:off x="3139107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6" type="subTitle"/>
          </p:nvPr>
        </p:nvSpPr>
        <p:spPr>
          <a:xfrm>
            <a:off x="4108806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"/>
          <p:cNvSpPr txBox="1"/>
          <p:nvPr>
            <p:ph idx="7" type="subTitle"/>
          </p:nvPr>
        </p:nvSpPr>
        <p:spPr>
          <a:xfrm>
            <a:off x="5092429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/>
          <p:nvPr/>
        </p:nvSpPr>
        <p:spPr>
          <a:xfrm>
            <a:off x="298300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5197656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9"/>
          <p:cNvSpPr txBox="1"/>
          <p:nvPr>
            <p:ph idx="8" type="body"/>
          </p:nvPr>
        </p:nvSpPr>
        <p:spPr>
          <a:xfrm>
            <a:off x="30268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5" name="Google Shape;105;p9"/>
          <p:cNvSpPr txBox="1"/>
          <p:nvPr>
            <p:ph idx="9" type="body"/>
          </p:nvPr>
        </p:nvSpPr>
        <p:spPr>
          <a:xfrm>
            <a:off x="5210863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6" name="Google Shape;106;p9"/>
          <p:cNvSpPr/>
          <p:nvPr/>
        </p:nvSpPr>
        <p:spPr>
          <a:xfrm>
            <a:off x="3239217" y="1301925"/>
            <a:ext cx="982800" cy="353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9"/>
          <p:cNvSpPr txBox="1"/>
          <p:nvPr>
            <p:ph idx="13" type="body"/>
          </p:nvPr>
        </p:nvSpPr>
        <p:spPr>
          <a:xfrm>
            <a:off x="3251210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8" name="Google Shape;108;p9"/>
          <p:cNvSpPr/>
          <p:nvPr/>
        </p:nvSpPr>
        <p:spPr>
          <a:xfrm>
            <a:off x="4215083" y="1301925"/>
            <a:ext cx="982800" cy="35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9"/>
          <p:cNvSpPr txBox="1"/>
          <p:nvPr>
            <p:ph idx="14" type="body"/>
          </p:nvPr>
        </p:nvSpPr>
        <p:spPr>
          <a:xfrm>
            <a:off x="4233736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10" name="Google Shape;110;p9"/>
          <p:cNvSpPr/>
          <p:nvPr/>
        </p:nvSpPr>
        <p:spPr>
          <a:xfrm>
            <a:off x="1280779" y="1301925"/>
            <a:ext cx="982800" cy="353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9"/>
          <p:cNvSpPr txBox="1"/>
          <p:nvPr>
            <p:ph idx="15" type="body"/>
          </p:nvPr>
        </p:nvSpPr>
        <p:spPr>
          <a:xfrm>
            <a:off x="128614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12" name="Google Shape;112;p9"/>
          <p:cNvSpPr/>
          <p:nvPr/>
        </p:nvSpPr>
        <p:spPr>
          <a:xfrm>
            <a:off x="2256692" y="1301925"/>
            <a:ext cx="982800" cy="353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9"/>
          <p:cNvSpPr txBox="1"/>
          <p:nvPr>
            <p:ph idx="16" type="body"/>
          </p:nvPr>
        </p:nvSpPr>
        <p:spPr>
          <a:xfrm>
            <a:off x="2268684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14" name="Google Shape;114;p9"/>
          <p:cNvSpPr/>
          <p:nvPr/>
        </p:nvSpPr>
        <p:spPr>
          <a:xfrm>
            <a:off x="6182130" y="1301927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6182130" y="2680069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9"/>
          <p:cNvSpPr txBox="1"/>
          <p:nvPr>
            <p:ph idx="17" type="subTitle"/>
          </p:nvPr>
        </p:nvSpPr>
        <p:spPr>
          <a:xfrm>
            <a:off x="6164355" y="1264050"/>
            <a:ext cx="24726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9"/>
          <p:cNvSpPr txBox="1"/>
          <p:nvPr>
            <p:ph idx="18" type="body"/>
          </p:nvPr>
        </p:nvSpPr>
        <p:spPr>
          <a:xfrm>
            <a:off x="6160825" y="1743763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" name="Google Shape;118;p9"/>
          <p:cNvSpPr txBox="1"/>
          <p:nvPr>
            <p:ph idx="19" type="subTitle"/>
          </p:nvPr>
        </p:nvSpPr>
        <p:spPr>
          <a:xfrm>
            <a:off x="6164657" y="2640406"/>
            <a:ext cx="26868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"/>
          <p:cNvSpPr txBox="1"/>
          <p:nvPr>
            <p:ph idx="20" type="body"/>
          </p:nvPr>
        </p:nvSpPr>
        <p:spPr>
          <a:xfrm>
            <a:off x="6160825" y="2978547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" name="Google Shape;120;p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9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vel Details">
  <p:cSld name="TITLE_3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/>
        </p:nvSpPr>
        <p:spPr>
          <a:xfrm>
            <a:off x="298300" y="301050"/>
            <a:ext cx="35340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279178" y="338025"/>
            <a:ext cx="35379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10"/>
          <p:cNvSpPr/>
          <p:nvPr>
            <p:ph idx="2" type="pic"/>
          </p:nvPr>
        </p:nvSpPr>
        <p:spPr>
          <a:xfrm>
            <a:off x="3836145" y="1334531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"/>
          <p:cNvSpPr/>
          <p:nvPr>
            <p:ph idx="3" type="pic"/>
          </p:nvPr>
        </p:nvSpPr>
        <p:spPr>
          <a:xfrm>
            <a:off x="3836145" y="2892484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0"/>
          <p:cNvSpPr/>
          <p:nvPr/>
        </p:nvSpPr>
        <p:spPr>
          <a:xfrm>
            <a:off x="5324404" y="2374069"/>
            <a:ext cx="2480100" cy="2086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5321031" y="2388890"/>
            <a:ext cx="24801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" name="Google Shape;131;p10"/>
          <p:cNvSpPr/>
          <p:nvPr/>
        </p:nvSpPr>
        <p:spPr>
          <a:xfrm>
            <a:off x="5324434" y="790425"/>
            <a:ext cx="3021000" cy="1584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842990" y="908254"/>
            <a:ext cx="2989200" cy="2589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0"/>
          <p:cNvSpPr txBox="1"/>
          <p:nvPr>
            <p:ph idx="4" type="body"/>
          </p:nvPr>
        </p:nvSpPr>
        <p:spPr>
          <a:xfrm>
            <a:off x="866096" y="1255168"/>
            <a:ext cx="29511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5" type="body"/>
          </p:nvPr>
        </p:nvSpPr>
        <p:spPr>
          <a:xfrm>
            <a:off x="5321025" y="801853"/>
            <a:ext cx="3016500" cy="1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" name="Google Shape;135;p10"/>
          <p:cNvSpPr txBox="1"/>
          <p:nvPr>
            <p:ph idx="6" type="subTitle"/>
          </p:nvPr>
        </p:nvSpPr>
        <p:spPr>
          <a:xfrm>
            <a:off x="854800" y="922100"/>
            <a:ext cx="29511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3_1_1_1_1_1_1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3263350" y="1223800"/>
            <a:ext cx="2617200" cy="2725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1"/>
          <p:cNvSpPr txBox="1"/>
          <p:nvPr>
            <p:ph idx="1" type="subTitle"/>
          </p:nvPr>
        </p:nvSpPr>
        <p:spPr>
          <a:xfrm>
            <a:off x="32634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1"/>
          <p:cNvSpPr/>
          <p:nvPr/>
        </p:nvSpPr>
        <p:spPr>
          <a:xfrm>
            <a:off x="643300" y="1223800"/>
            <a:ext cx="2617200" cy="2725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1"/>
          <p:cNvSpPr txBox="1"/>
          <p:nvPr>
            <p:ph idx="2" type="body"/>
          </p:nvPr>
        </p:nvSpPr>
        <p:spPr>
          <a:xfrm>
            <a:off x="6501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" name="Google Shape;143;p11"/>
          <p:cNvSpPr/>
          <p:nvPr/>
        </p:nvSpPr>
        <p:spPr>
          <a:xfrm>
            <a:off x="5883400" y="1223800"/>
            <a:ext cx="2617200" cy="2725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1"/>
          <p:cNvSpPr txBox="1"/>
          <p:nvPr>
            <p:ph idx="3" type="subTitle"/>
          </p:nvPr>
        </p:nvSpPr>
        <p:spPr>
          <a:xfrm>
            <a:off x="58835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1"/>
          <p:cNvSpPr txBox="1"/>
          <p:nvPr>
            <p:ph idx="4" type="body"/>
          </p:nvPr>
        </p:nvSpPr>
        <p:spPr>
          <a:xfrm>
            <a:off x="546686" y="3949300"/>
            <a:ext cx="24048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6" name="Google Shape;146;p11"/>
          <p:cNvSpPr txBox="1"/>
          <p:nvPr>
            <p:ph idx="5" type="subTitle"/>
          </p:nvPr>
        </p:nvSpPr>
        <p:spPr>
          <a:xfrm>
            <a:off x="6463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1"/>
          <p:cNvSpPr txBox="1"/>
          <p:nvPr>
            <p:ph idx="6" type="body"/>
          </p:nvPr>
        </p:nvSpPr>
        <p:spPr>
          <a:xfrm>
            <a:off x="32648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" name="Google Shape;148;p11"/>
          <p:cNvSpPr txBox="1"/>
          <p:nvPr>
            <p:ph idx="7" type="body"/>
          </p:nvPr>
        </p:nvSpPr>
        <p:spPr>
          <a:xfrm>
            <a:off x="588340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11"/>
          <p:cNvSpPr txBox="1"/>
          <p:nvPr>
            <p:ph idx="8" type="body"/>
          </p:nvPr>
        </p:nvSpPr>
        <p:spPr>
          <a:xfrm>
            <a:off x="65015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1"/>
          <p:cNvSpPr txBox="1"/>
          <p:nvPr>
            <p:ph idx="9" type="body"/>
          </p:nvPr>
        </p:nvSpPr>
        <p:spPr>
          <a:xfrm>
            <a:off x="18804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1"/>
          <p:cNvSpPr txBox="1"/>
          <p:nvPr>
            <p:ph idx="13" type="body"/>
          </p:nvPr>
        </p:nvSpPr>
        <p:spPr>
          <a:xfrm>
            <a:off x="32667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2" name="Google Shape;152;p11"/>
          <p:cNvSpPr txBox="1"/>
          <p:nvPr>
            <p:ph idx="14" type="body"/>
          </p:nvPr>
        </p:nvSpPr>
        <p:spPr>
          <a:xfrm>
            <a:off x="44971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3" name="Google Shape;153;p11"/>
          <p:cNvSpPr txBox="1"/>
          <p:nvPr>
            <p:ph idx="15" type="body"/>
          </p:nvPr>
        </p:nvSpPr>
        <p:spPr>
          <a:xfrm>
            <a:off x="58834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4" name="Google Shape;154;p11"/>
          <p:cNvSpPr txBox="1"/>
          <p:nvPr>
            <p:ph idx="16" type="body"/>
          </p:nvPr>
        </p:nvSpPr>
        <p:spPr>
          <a:xfrm>
            <a:off x="711372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5" name="Google Shape;155;p1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Pros and Cons">
  <p:cSld name="TITLE_3_1_1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298286" y="2469752"/>
            <a:ext cx="2849400" cy="2367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3148000" y="2469752"/>
            <a:ext cx="2849400" cy="2367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5984943" y="2469752"/>
            <a:ext cx="2849400" cy="2367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2"/>
          <p:cNvSpPr/>
          <p:nvPr>
            <p:ph idx="2" type="pic"/>
          </p:nvPr>
        </p:nvSpPr>
        <p:spPr>
          <a:xfrm>
            <a:off x="299192" y="1071125"/>
            <a:ext cx="2861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2"/>
          <p:cNvSpPr/>
          <p:nvPr>
            <p:ph idx="3" type="pic"/>
          </p:nvPr>
        </p:nvSpPr>
        <p:spPr>
          <a:xfrm>
            <a:off x="3147675" y="1071125"/>
            <a:ext cx="28371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2"/>
          <p:cNvSpPr/>
          <p:nvPr>
            <p:ph idx="4" type="pic"/>
          </p:nvPr>
        </p:nvSpPr>
        <p:spPr>
          <a:xfrm>
            <a:off x="5984750" y="1071125"/>
            <a:ext cx="2849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2"/>
          <p:cNvSpPr txBox="1"/>
          <p:nvPr>
            <p:ph idx="1" type="subTitle"/>
          </p:nvPr>
        </p:nvSpPr>
        <p:spPr>
          <a:xfrm>
            <a:off x="313140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2"/>
          <p:cNvSpPr txBox="1"/>
          <p:nvPr>
            <p:ph idx="5" type="body"/>
          </p:nvPr>
        </p:nvSpPr>
        <p:spPr>
          <a:xfrm>
            <a:off x="3157834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" name="Google Shape;168;p12"/>
          <p:cNvSpPr txBox="1"/>
          <p:nvPr>
            <p:ph idx="6" type="body"/>
          </p:nvPr>
        </p:nvSpPr>
        <p:spPr>
          <a:xfrm>
            <a:off x="6001839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" name="Google Shape;169;p12"/>
          <p:cNvSpPr txBox="1"/>
          <p:nvPr>
            <p:ph idx="7" type="body"/>
          </p:nvPr>
        </p:nvSpPr>
        <p:spPr>
          <a:xfrm>
            <a:off x="317282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0" name="Google Shape;170;p12"/>
          <p:cNvSpPr txBox="1"/>
          <p:nvPr>
            <p:ph idx="8" type="subTitle"/>
          </p:nvPr>
        </p:nvSpPr>
        <p:spPr>
          <a:xfrm>
            <a:off x="3153692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2"/>
          <p:cNvSpPr txBox="1"/>
          <p:nvPr>
            <p:ph idx="9" type="subTitle"/>
          </p:nvPr>
        </p:nvSpPr>
        <p:spPr>
          <a:xfrm>
            <a:off x="5997697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ditional Points">
  <p:cSld name="TITLE_3_1_1_1_1_1_1_1_1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3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3"/>
          <p:cNvSpPr/>
          <p:nvPr>
            <p:ph idx="2" type="pic"/>
          </p:nvPr>
        </p:nvSpPr>
        <p:spPr>
          <a:xfrm>
            <a:off x="3789350" y="1216800"/>
            <a:ext cx="5062200" cy="3622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3"/>
          <p:cNvSpPr txBox="1"/>
          <p:nvPr>
            <p:ph idx="3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1" name="Google Shape;181;p13"/>
          <p:cNvSpPr txBox="1"/>
          <p:nvPr>
            <p:ph idx="4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3"/>
          <p:cNvSpPr txBox="1"/>
          <p:nvPr>
            <p:ph idx="5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6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7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5" name="Google Shape;185;p1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3_1_1_1_1_1_1_1_1_1_1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" name="Google Shape;192;p1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3_1_1_1_1_1_1_1_1_1_1_2_2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5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9" name="Google Shape;199;p1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3_1_1_1_1_1_1_1_1_1_1_2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/>
          <p:nvPr/>
        </p:nvSpPr>
        <p:spPr>
          <a:xfrm>
            <a:off x="298300" y="1213300"/>
            <a:ext cx="40788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6"/>
          <p:cNvSpPr txBox="1"/>
          <p:nvPr>
            <p:ph idx="1" type="body"/>
          </p:nvPr>
        </p:nvSpPr>
        <p:spPr>
          <a:xfrm>
            <a:off x="2983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" name="Google Shape;206;p16"/>
          <p:cNvSpPr/>
          <p:nvPr/>
        </p:nvSpPr>
        <p:spPr>
          <a:xfrm>
            <a:off x="4377100" y="1213300"/>
            <a:ext cx="40788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6"/>
          <p:cNvSpPr txBox="1"/>
          <p:nvPr>
            <p:ph idx="2" type="body"/>
          </p:nvPr>
        </p:nvSpPr>
        <p:spPr>
          <a:xfrm>
            <a:off x="43771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8" name="Google Shape;208;p1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lth and Safety">
  <p:cSld name="TITLE_3_1_1_1_1_1_1_1_1_1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/>
          <p:nvPr>
            <p:ph idx="2" type="pic"/>
          </p:nvPr>
        </p:nvSpPr>
        <p:spPr>
          <a:xfrm>
            <a:off x="3789500" y="1216033"/>
            <a:ext cx="2512800" cy="2711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7"/>
          <p:cNvSpPr/>
          <p:nvPr/>
        </p:nvSpPr>
        <p:spPr>
          <a:xfrm>
            <a:off x="6300850" y="1795700"/>
            <a:ext cx="991200" cy="504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7"/>
          <p:cNvSpPr/>
          <p:nvPr>
            <p:ph idx="3" type="pic"/>
          </p:nvPr>
        </p:nvSpPr>
        <p:spPr>
          <a:xfrm>
            <a:off x="6302375" y="2298975"/>
            <a:ext cx="2476800" cy="253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7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7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7"/>
          <p:cNvSpPr txBox="1"/>
          <p:nvPr>
            <p:ph idx="4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17"/>
          <p:cNvSpPr txBox="1"/>
          <p:nvPr>
            <p:ph idx="5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6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7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8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" name="Google Shape;223;p17"/>
          <p:cNvSpPr/>
          <p:nvPr/>
        </p:nvSpPr>
        <p:spPr>
          <a:xfrm>
            <a:off x="3789500" y="3927425"/>
            <a:ext cx="2512800" cy="549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ommendations">
  <p:cSld name="TITLE_3_1_1_1_1_1_1_1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/>
          <p:nvPr/>
        </p:nvSpPr>
        <p:spPr>
          <a:xfrm>
            <a:off x="1694350" y="1223800"/>
            <a:ext cx="5755200" cy="3534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1705750" y="1223400"/>
            <a:ext cx="57552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1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1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cision Making Timelines">
  <p:cSld name="TITLE_3_1_1_1_1_1_1_1_1_1_1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idx="1" type="subTitle"/>
          </p:nvPr>
        </p:nvSpPr>
        <p:spPr>
          <a:xfrm>
            <a:off x="97462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9"/>
          <p:cNvSpPr txBox="1"/>
          <p:nvPr>
            <p:ph idx="2" type="subTitle"/>
          </p:nvPr>
        </p:nvSpPr>
        <p:spPr>
          <a:xfrm>
            <a:off x="1947538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9"/>
          <p:cNvSpPr txBox="1"/>
          <p:nvPr>
            <p:ph idx="3" type="subTitle"/>
          </p:nvPr>
        </p:nvSpPr>
        <p:spPr>
          <a:xfrm>
            <a:off x="292045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9"/>
          <p:cNvSpPr txBox="1"/>
          <p:nvPr>
            <p:ph idx="4" type="subTitle"/>
          </p:nvPr>
        </p:nvSpPr>
        <p:spPr>
          <a:xfrm>
            <a:off x="3893363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9"/>
          <p:cNvSpPr txBox="1"/>
          <p:nvPr>
            <p:ph idx="5" type="subTitle"/>
          </p:nvPr>
        </p:nvSpPr>
        <p:spPr>
          <a:xfrm>
            <a:off x="486627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9"/>
          <p:cNvSpPr txBox="1"/>
          <p:nvPr>
            <p:ph idx="6" type="subTitle"/>
          </p:nvPr>
        </p:nvSpPr>
        <p:spPr>
          <a:xfrm>
            <a:off x="5839189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9"/>
          <p:cNvSpPr txBox="1"/>
          <p:nvPr>
            <p:ph idx="7" type="subTitle"/>
          </p:nvPr>
        </p:nvSpPr>
        <p:spPr>
          <a:xfrm>
            <a:off x="681210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9"/>
          <p:cNvSpPr txBox="1"/>
          <p:nvPr>
            <p:ph idx="8" type="subTitle"/>
          </p:nvPr>
        </p:nvSpPr>
        <p:spPr>
          <a:xfrm>
            <a:off x="7785014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4" name="Google Shape;244;p19"/>
          <p:cNvCxnSpPr/>
          <p:nvPr/>
        </p:nvCxnSpPr>
        <p:spPr>
          <a:xfrm>
            <a:off x="326031" y="3827919"/>
            <a:ext cx="830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19"/>
          <p:cNvCxnSpPr/>
          <p:nvPr/>
        </p:nvCxnSpPr>
        <p:spPr>
          <a:xfrm>
            <a:off x="1060840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19"/>
          <p:cNvCxnSpPr/>
          <p:nvPr/>
        </p:nvCxnSpPr>
        <p:spPr>
          <a:xfrm>
            <a:off x="2039296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19"/>
          <p:cNvCxnSpPr/>
          <p:nvPr/>
        </p:nvCxnSpPr>
        <p:spPr>
          <a:xfrm>
            <a:off x="3011282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19"/>
          <p:cNvCxnSpPr/>
          <p:nvPr/>
        </p:nvCxnSpPr>
        <p:spPr>
          <a:xfrm>
            <a:off x="3989739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9"/>
          <p:cNvCxnSpPr/>
          <p:nvPr/>
        </p:nvCxnSpPr>
        <p:spPr>
          <a:xfrm>
            <a:off x="4968195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19"/>
          <p:cNvCxnSpPr/>
          <p:nvPr/>
        </p:nvCxnSpPr>
        <p:spPr>
          <a:xfrm>
            <a:off x="5939111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9"/>
          <p:cNvCxnSpPr/>
          <p:nvPr/>
        </p:nvCxnSpPr>
        <p:spPr>
          <a:xfrm>
            <a:off x="6911098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19"/>
          <p:cNvCxnSpPr/>
          <p:nvPr/>
        </p:nvCxnSpPr>
        <p:spPr>
          <a:xfrm>
            <a:off x="7888483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19"/>
          <p:cNvCxnSpPr/>
          <p:nvPr/>
        </p:nvCxnSpPr>
        <p:spPr>
          <a:xfrm>
            <a:off x="15543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9"/>
          <p:cNvCxnSpPr/>
          <p:nvPr/>
        </p:nvCxnSpPr>
        <p:spPr>
          <a:xfrm>
            <a:off x="2532830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19"/>
          <p:cNvCxnSpPr/>
          <p:nvPr/>
        </p:nvCxnSpPr>
        <p:spPr>
          <a:xfrm>
            <a:off x="350481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19"/>
          <p:cNvCxnSpPr/>
          <p:nvPr/>
        </p:nvCxnSpPr>
        <p:spPr>
          <a:xfrm>
            <a:off x="44832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19"/>
          <p:cNvCxnSpPr/>
          <p:nvPr/>
        </p:nvCxnSpPr>
        <p:spPr>
          <a:xfrm>
            <a:off x="5461729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19"/>
          <p:cNvCxnSpPr/>
          <p:nvPr/>
        </p:nvCxnSpPr>
        <p:spPr>
          <a:xfrm>
            <a:off x="6432645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19"/>
          <p:cNvCxnSpPr/>
          <p:nvPr/>
        </p:nvCxnSpPr>
        <p:spPr>
          <a:xfrm>
            <a:off x="7404631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19"/>
          <p:cNvCxnSpPr/>
          <p:nvPr/>
        </p:nvCxnSpPr>
        <p:spPr>
          <a:xfrm>
            <a:off x="8382017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19"/>
          <p:cNvCxnSpPr/>
          <p:nvPr/>
        </p:nvCxnSpPr>
        <p:spPr>
          <a:xfrm>
            <a:off x="56730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19"/>
          <p:cNvSpPr txBox="1"/>
          <p:nvPr>
            <p:ph idx="9" type="body"/>
          </p:nvPr>
        </p:nvSpPr>
        <p:spPr>
          <a:xfrm>
            <a:off x="21972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3" name="Google Shape;263;p19"/>
          <p:cNvSpPr txBox="1"/>
          <p:nvPr>
            <p:ph idx="13" type="body"/>
          </p:nvPr>
        </p:nvSpPr>
        <p:spPr>
          <a:xfrm>
            <a:off x="1676863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4" name="Google Shape;264;p19"/>
          <p:cNvSpPr txBox="1"/>
          <p:nvPr>
            <p:ph idx="14" type="body"/>
          </p:nvPr>
        </p:nvSpPr>
        <p:spPr>
          <a:xfrm>
            <a:off x="3156254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5" name="Google Shape;265;p19"/>
          <p:cNvSpPr txBox="1"/>
          <p:nvPr>
            <p:ph idx="15" type="body"/>
          </p:nvPr>
        </p:nvSpPr>
        <p:spPr>
          <a:xfrm>
            <a:off x="387951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6" name="Google Shape;266;p19"/>
          <p:cNvSpPr txBox="1"/>
          <p:nvPr>
            <p:ph idx="16" type="body"/>
          </p:nvPr>
        </p:nvSpPr>
        <p:spPr>
          <a:xfrm>
            <a:off x="583534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7" name="Google Shape;267;p19"/>
          <p:cNvSpPr txBox="1"/>
          <p:nvPr>
            <p:ph idx="17" type="body"/>
          </p:nvPr>
        </p:nvSpPr>
        <p:spPr>
          <a:xfrm>
            <a:off x="730027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8" name="Google Shape;268;p19"/>
          <p:cNvSpPr txBox="1"/>
          <p:nvPr>
            <p:ph idx="18" type="body"/>
          </p:nvPr>
        </p:nvSpPr>
        <p:spPr>
          <a:xfrm>
            <a:off x="5213426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9" name="Google Shape;269;p1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1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301794" y="301050"/>
            <a:ext cx="66093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19"/>
          <p:cNvSpPr txBox="1"/>
          <p:nvPr>
            <p:ph type="title"/>
          </p:nvPr>
        </p:nvSpPr>
        <p:spPr>
          <a:xfrm>
            <a:off x="279173" y="338025"/>
            <a:ext cx="658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/Outro Slide">
  <p:cSld name="TITLE_3_1_1_1_1_1_1_1_1_1_1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/>
          <p:nvPr/>
        </p:nvSpPr>
        <p:spPr>
          <a:xfrm>
            <a:off x="4316871" y="2841579"/>
            <a:ext cx="1052100" cy="1086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2213760" y="284815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1172300" y="120820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>
            <p:ph type="title"/>
          </p:nvPr>
        </p:nvSpPr>
        <p:spPr>
          <a:xfrm>
            <a:off x="1172300" y="120820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20"/>
          <p:cNvSpPr/>
          <p:nvPr/>
        </p:nvSpPr>
        <p:spPr>
          <a:xfrm>
            <a:off x="4316873" y="230015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>
            <p:ph idx="2" type="title"/>
          </p:nvPr>
        </p:nvSpPr>
        <p:spPr>
          <a:xfrm>
            <a:off x="4316875" y="2841575"/>
            <a:ext cx="1052100" cy="108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2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20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/>
          <p:nvPr/>
        </p:nvSpPr>
        <p:spPr>
          <a:xfrm>
            <a:off x="1822200" y="1536600"/>
            <a:ext cx="4986900" cy="108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>
            <a:off x="1822300" y="1548425"/>
            <a:ext cx="49869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22"/>
          <p:cNvSpPr/>
          <p:nvPr/>
        </p:nvSpPr>
        <p:spPr>
          <a:xfrm>
            <a:off x="4655406" y="2617800"/>
            <a:ext cx="2159400" cy="98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>
            <p:ph idx="1" type="subTitle"/>
          </p:nvPr>
        </p:nvSpPr>
        <p:spPr>
          <a:xfrm>
            <a:off x="4649825" y="2625603"/>
            <a:ext cx="21594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2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3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3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" name="Google Shape;294;p23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/>
          <p:nvPr/>
        </p:nvSpPr>
        <p:spPr>
          <a:xfrm>
            <a:off x="298300" y="1213300"/>
            <a:ext cx="34551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4"/>
          <p:cNvSpPr txBox="1"/>
          <p:nvPr>
            <p:ph idx="1" type="body"/>
          </p:nvPr>
        </p:nvSpPr>
        <p:spPr>
          <a:xfrm>
            <a:off x="3778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0" name="Google Shape;300;p24"/>
          <p:cNvSpPr/>
          <p:nvPr/>
        </p:nvSpPr>
        <p:spPr>
          <a:xfrm>
            <a:off x="3753400" y="1213300"/>
            <a:ext cx="34551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4"/>
          <p:cNvSpPr txBox="1"/>
          <p:nvPr>
            <p:ph idx="2" type="body"/>
          </p:nvPr>
        </p:nvSpPr>
        <p:spPr>
          <a:xfrm>
            <a:off x="38329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2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4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5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/>
          <p:nvPr/>
        </p:nvSpPr>
        <p:spPr>
          <a:xfrm>
            <a:off x="298862" y="1213300"/>
            <a:ext cx="42042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6"/>
          <p:cNvSpPr txBox="1"/>
          <p:nvPr>
            <p:ph idx="1" type="body"/>
          </p:nvPr>
        </p:nvSpPr>
        <p:spPr>
          <a:xfrm>
            <a:off x="370550" y="1290925"/>
            <a:ext cx="40608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2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298300" y="301050"/>
            <a:ext cx="42363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6"/>
          <p:cNvSpPr txBox="1"/>
          <p:nvPr>
            <p:ph type="title"/>
          </p:nvPr>
        </p:nvSpPr>
        <p:spPr>
          <a:xfrm>
            <a:off x="279177" y="338025"/>
            <a:ext cx="42042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6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7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27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7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1172300" y="2775600"/>
            <a:ext cx="2953200" cy="890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1172300" y="1477197"/>
            <a:ext cx="5841600" cy="1298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4125500" y="2775588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8"/>
          <p:cNvSpPr txBox="1"/>
          <p:nvPr>
            <p:ph type="title"/>
          </p:nvPr>
        </p:nvSpPr>
        <p:spPr>
          <a:xfrm>
            <a:off x="1227050" y="1551048"/>
            <a:ext cx="57321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1240100" y="2837775"/>
            <a:ext cx="28323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2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28"/>
          <p:cNvSpPr txBox="1"/>
          <p:nvPr>
            <p:ph idx="2" type="body"/>
          </p:nvPr>
        </p:nvSpPr>
        <p:spPr>
          <a:xfrm>
            <a:off x="1187325" y="3840875"/>
            <a:ext cx="6892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6" name="Google Shape;336;p2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9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3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0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idx="1" type="subTitle"/>
          </p:nvPr>
        </p:nvSpPr>
        <p:spPr>
          <a:xfrm>
            <a:off x="317500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31"/>
          <p:cNvSpPr txBox="1"/>
          <p:nvPr>
            <p:ph idx="2" type="subTitle"/>
          </p:nvPr>
        </p:nvSpPr>
        <p:spPr>
          <a:xfrm>
            <a:off x="4421675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31"/>
          <p:cNvSpPr txBox="1"/>
          <p:nvPr>
            <p:ph idx="3" type="subTitle"/>
          </p:nvPr>
        </p:nvSpPr>
        <p:spPr>
          <a:xfrm>
            <a:off x="317500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31"/>
          <p:cNvSpPr txBox="1"/>
          <p:nvPr>
            <p:ph idx="4" type="subTitle"/>
          </p:nvPr>
        </p:nvSpPr>
        <p:spPr>
          <a:xfrm>
            <a:off x="4421675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31"/>
          <p:cNvSpPr txBox="1"/>
          <p:nvPr>
            <p:ph idx="5" type="subTitle"/>
          </p:nvPr>
        </p:nvSpPr>
        <p:spPr>
          <a:xfrm>
            <a:off x="317500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1"/>
          <p:cNvSpPr txBox="1"/>
          <p:nvPr>
            <p:ph idx="6" type="subTitle"/>
          </p:nvPr>
        </p:nvSpPr>
        <p:spPr>
          <a:xfrm>
            <a:off x="4421675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3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3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"/>
          <p:cNvSpPr/>
          <p:nvPr/>
        </p:nvSpPr>
        <p:spPr>
          <a:xfrm>
            <a:off x="292600" y="1214724"/>
            <a:ext cx="4239000" cy="250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2"/>
          <p:cNvSpPr/>
          <p:nvPr>
            <p:ph idx="2" type="pic"/>
          </p:nvPr>
        </p:nvSpPr>
        <p:spPr>
          <a:xfrm>
            <a:off x="4531775" y="1221524"/>
            <a:ext cx="4302600" cy="363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32"/>
          <p:cNvSpPr txBox="1"/>
          <p:nvPr>
            <p:ph idx="1" type="body"/>
          </p:nvPr>
        </p:nvSpPr>
        <p:spPr>
          <a:xfrm>
            <a:off x="340319" y="1261074"/>
            <a:ext cx="4061400" cy="24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3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3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2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/>
          <p:nvPr/>
        </p:nvSpPr>
        <p:spPr>
          <a:xfrm>
            <a:off x="290556" y="1213300"/>
            <a:ext cx="40176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416145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33"/>
          <p:cNvSpPr/>
          <p:nvPr/>
        </p:nvSpPr>
        <p:spPr>
          <a:xfrm>
            <a:off x="4308218" y="1213300"/>
            <a:ext cx="40176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idx="2" type="body"/>
          </p:nvPr>
        </p:nvSpPr>
        <p:spPr>
          <a:xfrm>
            <a:off x="4433807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3" type="subTitle"/>
          </p:nvPr>
        </p:nvSpPr>
        <p:spPr>
          <a:xfrm>
            <a:off x="416145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4" type="subTitle"/>
          </p:nvPr>
        </p:nvSpPr>
        <p:spPr>
          <a:xfrm>
            <a:off x="4433807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3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3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3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3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"/>
          <p:cNvSpPr/>
          <p:nvPr/>
        </p:nvSpPr>
        <p:spPr>
          <a:xfrm>
            <a:off x="290556" y="1213300"/>
            <a:ext cx="28455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4"/>
          <p:cNvSpPr txBox="1"/>
          <p:nvPr>
            <p:ph idx="1" type="body"/>
          </p:nvPr>
        </p:nvSpPr>
        <p:spPr>
          <a:xfrm>
            <a:off x="379498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4"/>
          <p:cNvSpPr/>
          <p:nvPr/>
        </p:nvSpPr>
        <p:spPr>
          <a:xfrm>
            <a:off x="3135874" y="1213300"/>
            <a:ext cx="28455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34"/>
          <p:cNvSpPr txBox="1"/>
          <p:nvPr>
            <p:ph idx="2" type="body"/>
          </p:nvPr>
        </p:nvSpPr>
        <p:spPr>
          <a:xfrm>
            <a:off x="3224816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34"/>
          <p:cNvSpPr txBox="1"/>
          <p:nvPr>
            <p:ph idx="3" type="subTitle"/>
          </p:nvPr>
        </p:nvSpPr>
        <p:spPr>
          <a:xfrm>
            <a:off x="379498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34"/>
          <p:cNvSpPr txBox="1"/>
          <p:nvPr>
            <p:ph idx="4" type="subTitle"/>
          </p:nvPr>
        </p:nvSpPr>
        <p:spPr>
          <a:xfrm>
            <a:off x="3224816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4"/>
          <p:cNvSpPr/>
          <p:nvPr/>
        </p:nvSpPr>
        <p:spPr>
          <a:xfrm>
            <a:off x="5981304" y="1213300"/>
            <a:ext cx="28455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4"/>
          <p:cNvSpPr txBox="1"/>
          <p:nvPr>
            <p:ph idx="5" type="body"/>
          </p:nvPr>
        </p:nvSpPr>
        <p:spPr>
          <a:xfrm>
            <a:off x="6070247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idx="6" type="subTitle"/>
          </p:nvPr>
        </p:nvSpPr>
        <p:spPr>
          <a:xfrm>
            <a:off x="6070247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3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3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3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4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/>
          <p:nvPr/>
        </p:nvSpPr>
        <p:spPr>
          <a:xfrm>
            <a:off x="292600" y="1213300"/>
            <a:ext cx="21327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5"/>
          <p:cNvSpPr txBox="1"/>
          <p:nvPr>
            <p:ph idx="1" type="body"/>
          </p:nvPr>
        </p:nvSpPr>
        <p:spPr>
          <a:xfrm>
            <a:off x="388220" y="20640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/>
          <p:nvPr/>
        </p:nvSpPr>
        <p:spPr>
          <a:xfrm>
            <a:off x="2425130" y="1213300"/>
            <a:ext cx="21327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35"/>
          <p:cNvSpPr txBox="1"/>
          <p:nvPr>
            <p:ph idx="2" type="body"/>
          </p:nvPr>
        </p:nvSpPr>
        <p:spPr>
          <a:xfrm>
            <a:off x="2524606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idx="3" type="subTitle"/>
          </p:nvPr>
        </p:nvSpPr>
        <p:spPr>
          <a:xfrm>
            <a:off x="395987" y="13136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4" type="subTitle"/>
          </p:nvPr>
        </p:nvSpPr>
        <p:spPr>
          <a:xfrm>
            <a:off x="2524607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35"/>
          <p:cNvSpPr/>
          <p:nvPr/>
        </p:nvSpPr>
        <p:spPr>
          <a:xfrm>
            <a:off x="4557594" y="1213300"/>
            <a:ext cx="21327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35"/>
          <p:cNvSpPr txBox="1"/>
          <p:nvPr>
            <p:ph idx="5" type="body"/>
          </p:nvPr>
        </p:nvSpPr>
        <p:spPr>
          <a:xfrm>
            <a:off x="465713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35"/>
          <p:cNvSpPr/>
          <p:nvPr/>
        </p:nvSpPr>
        <p:spPr>
          <a:xfrm>
            <a:off x="6690125" y="1213300"/>
            <a:ext cx="21327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35"/>
          <p:cNvSpPr txBox="1"/>
          <p:nvPr>
            <p:ph idx="6" type="body"/>
          </p:nvPr>
        </p:nvSpPr>
        <p:spPr>
          <a:xfrm>
            <a:off x="678958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35"/>
          <p:cNvSpPr txBox="1"/>
          <p:nvPr>
            <p:ph idx="7" type="subTitle"/>
          </p:nvPr>
        </p:nvSpPr>
        <p:spPr>
          <a:xfrm>
            <a:off x="4657140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35"/>
          <p:cNvSpPr txBox="1"/>
          <p:nvPr>
            <p:ph idx="8" type="subTitle"/>
          </p:nvPr>
        </p:nvSpPr>
        <p:spPr>
          <a:xfrm>
            <a:off x="6789588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3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3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5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/>
          <p:nvPr>
            <p:ph idx="2" type="pic"/>
          </p:nvPr>
        </p:nvSpPr>
        <p:spPr>
          <a:xfrm>
            <a:off x="332000" y="1102925"/>
            <a:ext cx="6915000" cy="37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6"/>
          <p:cNvSpPr/>
          <p:nvPr/>
        </p:nvSpPr>
        <p:spPr>
          <a:xfrm>
            <a:off x="7236337" y="1102925"/>
            <a:ext cx="1097400" cy="460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6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/>
          <p:nvPr/>
        </p:nvSpPr>
        <p:spPr>
          <a:xfrm>
            <a:off x="299641" y="301944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298987" y="3164944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37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335627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7"/>
          <p:cNvSpPr/>
          <p:nvPr/>
        </p:nvSpPr>
        <p:spPr>
          <a:xfrm>
            <a:off x="3055339" y="3164944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7"/>
          <p:cNvSpPr/>
          <p:nvPr>
            <p:ph idx="2" type="pic"/>
          </p:nvPr>
        </p:nvSpPr>
        <p:spPr>
          <a:xfrm>
            <a:off x="305510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7"/>
          <p:cNvSpPr txBox="1"/>
          <p:nvPr>
            <p:ph idx="3" type="subTitle"/>
          </p:nvPr>
        </p:nvSpPr>
        <p:spPr>
          <a:xfrm>
            <a:off x="3085572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37"/>
          <p:cNvSpPr txBox="1"/>
          <p:nvPr>
            <p:ph idx="4" type="body"/>
          </p:nvPr>
        </p:nvSpPr>
        <p:spPr>
          <a:xfrm>
            <a:off x="329783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37"/>
          <p:cNvSpPr txBox="1"/>
          <p:nvPr>
            <p:ph idx="5" type="body"/>
          </p:nvPr>
        </p:nvSpPr>
        <p:spPr>
          <a:xfrm>
            <a:off x="3088466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37"/>
          <p:cNvSpPr/>
          <p:nvPr/>
        </p:nvSpPr>
        <p:spPr>
          <a:xfrm>
            <a:off x="3062463" y="809593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37"/>
          <p:cNvSpPr/>
          <p:nvPr>
            <p:ph idx="6" type="pic"/>
          </p:nvPr>
        </p:nvSpPr>
        <p:spPr>
          <a:xfrm>
            <a:off x="3063994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3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7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/>
          <p:nvPr/>
        </p:nvSpPr>
        <p:spPr>
          <a:xfrm>
            <a:off x="298192" y="301228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297538" y="3164228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334178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38"/>
          <p:cNvSpPr/>
          <p:nvPr/>
        </p:nvSpPr>
        <p:spPr>
          <a:xfrm>
            <a:off x="3053889" y="3164228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38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2" name="Google Shape;432;p38"/>
          <p:cNvSpPr/>
          <p:nvPr>
            <p:ph idx="2" type="pic"/>
          </p:nvPr>
        </p:nvSpPr>
        <p:spPr>
          <a:xfrm>
            <a:off x="304061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8"/>
          <p:cNvSpPr txBox="1"/>
          <p:nvPr>
            <p:ph idx="3" type="subTitle"/>
          </p:nvPr>
        </p:nvSpPr>
        <p:spPr>
          <a:xfrm>
            <a:off x="30841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38"/>
          <p:cNvSpPr txBox="1"/>
          <p:nvPr>
            <p:ph idx="4" type="body"/>
          </p:nvPr>
        </p:nvSpPr>
        <p:spPr>
          <a:xfrm>
            <a:off x="328334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38"/>
          <p:cNvSpPr txBox="1"/>
          <p:nvPr>
            <p:ph idx="5" type="body"/>
          </p:nvPr>
        </p:nvSpPr>
        <p:spPr>
          <a:xfrm>
            <a:off x="30870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38"/>
          <p:cNvSpPr/>
          <p:nvPr/>
        </p:nvSpPr>
        <p:spPr>
          <a:xfrm>
            <a:off x="3061014" y="808877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38"/>
          <p:cNvSpPr/>
          <p:nvPr>
            <p:ph idx="6" type="pic"/>
          </p:nvPr>
        </p:nvSpPr>
        <p:spPr>
          <a:xfrm>
            <a:off x="30625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3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38"/>
          <p:cNvSpPr/>
          <p:nvPr/>
        </p:nvSpPr>
        <p:spPr>
          <a:xfrm>
            <a:off x="5811189" y="3164228"/>
            <a:ext cx="2757300" cy="1683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38"/>
          <p:cNvSpPr txBox="1"/>
          <p:nvPr>
            <p:ph idx="7" type="subTitle"/>
          </p:nvPr>
        </p:nvSpPr>
        <p:spPr>
          <a:xfrm>
            <a:off x="58414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8"/>
          <p:cNvSpPr txBox="1"/>
          <p:nvPr>
            <p:ph idx="8" type="body"/>
          </p:nvPr>
        </p:nvSpPr>
        <p:spPr>
          <a:xfrm>
            <a:off x="58443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3" name="Google Shape;443;p38"/>
          <p:cNvSpPr/>
          <p:nvPr>
            <p:ph idx="9" type="pic"/>
          </p:nvPr>
        </p:nvSpPr>
        <p:spPr>
          <a:xfrm>
            <a:off x="58198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8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9"/>
          <p:cNvSpPr/>
          <p:nvPr>
            <p:ph idx="2" type="pic"/>
          </p:nvPr>
        </p:nvSpPr>
        <p:spPr>
          <a:xfrm>
            <a:off x="317500" y="1104900"/>
            <a:ext cx="8521800" cy="373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3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3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9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0"/>
          <p:cNvSpPr/>
          <p:nvPr>
            <p:ph idx="2" type="pic"/>
          </p:nvPr>
        </p:nvSpPr>
        <p:spPr>
          <a:xfrm>
            <a:off x="340412" y="3044150"/>
            <a:ext cx="2087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40"/>
          <p:cNvSpPr/>
          <p:nvPr>
            <p:ph idx="3" type="pic"/>
          </p:nvPr>
        </p:nvSpPr>
        <p:spPr>
          <a:xfrm>
            <a:off x="5649300" y="3044303"/>
            <a:ext cx="1190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40"/>
          <p:cNvSpPr/>
          <p:nvPr>
            <p:ph idx="4" type="pic"/>
          </p:nvPr>
        </p:nvSpPr>
        <p:spPr>
          <a:xfrm>
            <a:off x="340400" y="1690778"/>
            <a:ext cx="1416300" cy="133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40"/>
          <p:cNvSpPr/>
          <p:nvPr>
            <p:ph idx="5" type="pic"/>
          </p:nvPr>
        </p:nvSpPr>
        <p:spPr>
          <a:xfrm>
            <a:off x="2443047" y="3044052"/>
            <a:ext cx="1190100" cy="132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40"/>
          <p:cNvSpPr/>
          <p:nvPr>
            <p:ph idx="6" type="pic"/>
          </p:nvPr>
        </p:nvSpPr>
        <p:spPr>
          <a:xfrm>
            <a:off x="3648504" y="3044048"/>
            <a:ext cx="1991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40"/>
          <p:cNvSpPr/>
          <p:nvPr>
            <p:ph idx="7" type="pic"/>
          </p:nvPr>
        </p:nvSpPr>
        <p:spPr>
          <a:xfrm>
            <a:off x="1767376" y="1263050"/>
            <a:ext cx="18813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40"/>
          <p:cNvSpPr/>
          <p:nvPr>
            <p:ph idx="8" type="pic"/>
          </p:nvPr>
        </p:nvSpPr>
        <p:spPr>
          <a:xfrm>
            <a:off x="3648523" y="1263050"/>
            <a:ext cx="1592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40"/>
          <p:cNvSpPr/>
          <p:nvPr>
            <p:ph idx="9" type="pic"/>
          </p:nvPr>
        </p:nvSpPr>
        <p:spPr>
          <a:xfrm>
            <a:off x="5240654" y="1263050"/>
            <a:ext cx="15987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40"/>
          <p:cNvSpPr/>
          <p:nvPr>
            <p:ph idx="13" type="pic"/>
          </p:nvPr>
        </p:nvSpPr>
        <p:spPr>
          <a:xfrm>
            <a:off x="6860149" y="1263050"/>
            <a:ext cx="1962600" cy="355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4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40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4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"/>
              <a:buNone/>
              <a:defRPr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614575" y="2355900"/>
            <a:ext cx="5340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738">
          <p15:clr>
            <a:srgbClr val="E46962"/>
          </p15:clr>
        </p15:guide>
        <p15:guide id="3" pos="405">
          <p15:clr>
            <a:srgbClr val="E46962"/>
          </p15:clr>
        </p15:guide>
        <p15:guide id="4" pos="1396">
          <p15:clr>
            <a:srgbClr val="E46962"/>
          </p15:clr>
        </p15:guide>
        <p15:guide id="5" pos="1067">
          <p15:clr>
            <a:srgbClr val="E46962"/>
          </p15:clr>
        </p15:guide>
        <p15:guide id="6" pos="1725">
          <p15:clr>
            <a:srgbClr val="E46962"/>
          </p15:clr>
        </p15:guide>
        <p15:guide id="7" pos="2054">
          <p15:clr>
            <a:srgbClr val="E46962"/>
          </p15:clr>
        </p15:guide>
        <p15:guide id="8" pos="2387">
          <p15:clr>
            <a:srgbClr val="E46962"/>
          </p15:clr>
        </p15:guide>
        <p15:guide id="9" pos="2720">
          <p15:clr>
            <a:srgbClr val="E46962"/>
          </p15:clr>
        </p15:guide>
        <p15:guide id="10" pos="3049">
          <p15:clr>
            <a:srgbClr val="E46962"/>
          </p15:clr>
        </p15:guide>
        <p15:guide id="11" pos="3378">
          <p15:clr>
            <a:srgbClr val="E46962"/>
          </p15:clr>
        </p15:guide>
        <p15:guide id="12" pos="3706">
          <p15:clr>
            <a:srgbClr val="E46962"/>
          </p15:clr>
        </p15:guide>
        <p15:guide id="13" pos="4035">
          <p15:clr>
            <a:srgbClr val="E46962"/>
          </p15:clr>
        </p15:guide>
        <p15:guide id="14" pos="4364">
          <p15:clr>
            <a:srgbClr val="E46962"/>
          </p15:clr>
        </p15:guide>
        <p15:guide id="15" pos="4693">
          <p15:clr>
            <a:srgbClr val="E46962"/>
          </p15:clr>
        </p15:guide>
        <p15:guide id="16" pos="5025">
          <p15:clr>
            <a:srgbClr val="E46962"/>
          </p15:clr>
        </p15:guide>
        <p15:guide id="17" pos="5355">
          <p15:clr>
            <a:srgbClr val="E46962"/>
          </p15:clr>
        </p15:guide>
        <p15:guide id="18" pos="5688">
          <p15:clr>
            <a:srgbClr val="E46962"/>
          </p15:clr>
        </p15:guide>
        <p15:guide id="19" orient="horz" pos="72">
          <p15:clr>
            <a:srgbClr val="E46962"/>
          </p15:clr>
        </p15:guide>
        <p15:guide id="20" orient="horz" pos="417">
          <p15:clr>
            <a:srgbClr val="E46962"/>
          </p15:clr>
        </p15:guide>
        <p15:guide id="21" orient="horz" pos="415">
          <p15:clr>
            <a:srgbClr val="E46962"/>
          </p15:clr>
        </p15:guide>
        <p15:guide id="22" orient="horz" pos="761">
          <p15:clr>
            <a:srgbClr val="E46962"/>
          </p15:clr>
        </p15:guide>
        <p15:guide id="23" orient="horz" pos="1101">
          <p15:clr>
            <a:srgbClr val="E46962"/>
          </p15:clr>
        </p15:guide>
        <p15:guide id="24" orient="horz" pos="1449">
          <p15:clr>
            <a:srgbClr val="E46962"/>
          </p15:clr>
        </p15:guide>
        <p15:guide id="25" orient="horz" pos="1791">
          <p15:clr>
            <a:srgbClr val="E46962"/>
          </p15:clr>
        </p15:guide>
        <p15:guide id="26" orient="horz" pos="2134">
          <p15:clr>
            <a:srgbClr val="E46962"/>
          </p15:clr>
        </p15:guide>
        <p15:guide id="27" orient="horz" pos="2479">
          <p15:clr>
            <a:srgbClr val="E46962"/>
          </p15:clr>
        </p15:guide>
        <p15:guide id="28" orient="horz" pos="2825">
          <p15:clr>
            <a:srgbClr val="E46962"/>
          </p15:clr>
        </p15:guide>
        <p15:guide id="29" orient="horz" pos="3166">
          <p15:clr>
            <a:srgbClr val="E46962"/>
          </p15:clr>
        </p15:guide>
        <p15:guide id="30" pos="184">
          <p15:clr>
            <a:srgbClr val="E46962"/>
          </p15:clr>
        </p15:guide>
        <p15:guide id="31" orient="horz" pos="184">
          <p15:clr>
            <a:srgbClr val="E46962"/>
          </p15:clr>
        </p15:guide>
        <p15:guide id="32" pos="5576">
          <p15:clr>
            <a:srgbClr val="E46962"/>
          </p15:clr>
        </p15:guide>
        <p15:guide id="33" orient="horz" pos="1620">
          <p15:clr>
            <a:srgbClr val="E46962"/>
          </p15:clr>
        </p15:guide>
        <p15:guide id="34" orient="horz" pos="1716">
          <p15:clr>
            <a:srgbClr val="E46962"/>
          </p15:clr>
        </p15:guide>
        <p15:guide id="35" orient="horz" pos="305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1"/>
          <p:cNvSpPr txBox="1"/>
          <p:nvPr>
            <p:ph type="title"/>
          </p:nvPr>
        </p:nvSpPr>
        <p:spPr>
          <a:xfrm>
            <a:off x="671825" y="727744"/>
            <a:ext cx="31176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CAPSTONE PROJECT 2025</a:t>
            </a:r>
            <a:endParaRPr sz="2900"/>
          </a:p>
        </p:txBody>
      </p:sp>
      <p:sp>
        <p:nvSpPr>
          <p:cNvPr id="467" name="Google Shape;467;p41"/>
          <p:cNvSpPr txBox="1"/>
          <p:nvPr>
            <p:ph idx="2" type="title"/>
          </p:nvPr>
        </p:nvSpPr>
        <p:spPr>
          <a:xfrm>
            <a:off x="2258050" y="1800075"/>
            <a:ext cx="4669500" cy="18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00">
                <a:solidFill>
                  <a:srgbClr val="000000"/>
                </a:solidFill>
              </a:rPr>
              <a:t>Sugar, Spice, and Predictive Advice:</a:t>
            </a:r>
            <a:r>
              <a:rPr lang="en" sz="3200">
                <a:solidFill>
                  <a:srgbClr val="000000"/>
                </a:solidFill>
              </a:rPr>
              <a:t> </a:t>
            </a:r>
            <a:r>
              <a:rPr lang="en" sz="2800">
                <a:solidFill>
                  <a:srgbClr val="000000"/>
                </a:solidFill>
              </a:rPr>
              <a:t>Forecasting Diabetes Risk with Lifestyle and Health Data</a:t>
            </a:r>
            <a:endParaRPr sz="5660"/>
          </a:p>
        </p:txBody>
      </p:sp>
      <p:sp>
        <p:nvSpPr>
          <p:cNvPr id="468" name="Google Shape;468;p41"/>
          <p:cNvSpPr/>
          <p:nvPr/>
        </p:nvSpPr>
        <p:spPr>
          <a:xfrm>
            <a:off x="6474875" y="3686925"/>
            <a:ext cx="2474400" cy="991800"/>
          </a:xfrm>
          <a:prstGeom prst="rect">
            <a:avLst/>
          </a:prstGeom>
          <a:solidFill>
            <a:srgbClr val="4EC01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41"/>
          <p:cNvSpPr txBox="1"/>
          <p:nvPr/>
        </p:nvSpPr>
        <p:spPr>
          <a:xfrm>
            <a:off x="6617225" y="3829275"/>
            <a:ext cx="2111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Amanda Dias-Jayasinghe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/>
          <p:nvPr>
            <p:ph idx="7" type="body"/>
          </p:nvPr>
        </p:nvSpPr>
        <p:spPr>
          <a:xfrm>
            <a:off x="3158960" y="3748442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Model building and selection of best model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Testing min and max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2"/>
          <p:cNvSpPr txBox="1"/>
          <p:nvPr>
            <p:ph type="title"/>
          </p:nvPr>
        </p:nvSpPr>
        <p:spPr>
          <a:xfrm>
            <a:off x="328518" y="361238"/>
            <a:ext cx="2720700" cy="1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476" name="Google Shape;476;p42"/>
          <p:cNvSpPr txBox="1"/>
          <p:nvPr>
            <p:ph idx="1" type="subTitle"/>
          </p:nvPr>
        </p:nvSpPr>
        <p:spPr>
          <a:xfrm>
            <a:off x="314208" y="3147251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Overview of project</a:t>
            </a:r>
            <a:endParaRPr/>
          </a:p>
        </p:txBody>
      </p:sp>
      <p:sp>
        <p:nvSpPr>
          <p:cNvPr id="477" name="Google Shape;477;p42"/>
          <p:cNvSpPr txBox="1"/>
          <p:nvPr>
            <p:ph idx="6" type="subTitle"/>
          </p:nvPr>
        </p:nvSpPr>
        <p:spPr>
          <a:xfrm>
            <a:off x="3156683" y="3147251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Model building and testing</a:t>
            </a:r>
            <a:endParaRPr/>
          </a:p>
        </p:txBody>
      </p:sp>
      <p:sp>
        <p:nvSpPr>
          <p:cNvPr id="478" name="Google Shape;478;p42"/>
          <p:cNvSpPr txBox="1"/>
          <p:nvPr>
            <p:ph idx="8" type="subTitle"/>
          </p:nvPr>
        </p:nvSpPr>
        <p:spPr>
          <a:xfrm>
            <a:off x="6007809" y="3147251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 User demo</a:t>
            </a:r>
            <a:endParaRPr/>
          </a:p>
        </p:txBody>
      </p:sp>
      <p:sp>
        <p:nvSpPr>
          <p:cNvPr id="479" name="Google Shape;479;p42"/>
          <p:cNvSpPr txBox="1"/>
          <p:nvPr>
            <p:ph idx="3" type="body"/>
          </p:nvPr>
        </p:nvSpPr>
        <p:spPr>
          <a:xfrm>
            <a:off x="316485" y="3748442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What is diabetes?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Aim of this project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Presentation of exploratory data analysis</a:t>
            </a:r>
            <a:endParaRPr/>
          </a:p>
        </p:txBody>
      </p:sp>
      <p:pic>
        <p:nvPicPr>
          <p:cNvPr id="480" name="Google Shape;480;p42"/>
          <p:cNvPicPr preferRelativeResize="0"/>
          <p:nvPr/>
        </p:nvPicPr>
        <p:blipFill rotWithShape="1">
          <a:blip r:embed="rId3">
            <a:alphaModFix/>
          </a:blip>
          <a:srcRect b="24585" l="0" r="0" t="0"/>
          <a:stretch/>
        </p:blipFill>
        <p:spPr>
          <a:xfrm>
            <a:off x="314200" y="1316450"/>
            <a:ext cx="2885228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1" name="Google Shape;481;p42"/>
          <p:cNvPicPr preferRelativeResize="0"/>
          <p:nvPr/>
        </p:nvPicPr>
        <p:blipFill rotWithShape="1">
          <a:blip r:embed="rId4">
            <a:alphaModFix/>
          </a:blip>
          <a:srcRect b="34785" l="0" r="0" t="0"/>
          <a:stretch/>
        </p:blipFill>
        <p:spPr>
          <a:xfrm>
            <a:off x="3148800" y="1316450"/>
            <a:ext cx="28287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2" name="Google Shape;482;p42"/>
          <p:cNvPicPr preferRelativeResize="0"/>
          <p:nvPr/>
        </p:nvPicPr>
        <p:blipFill rotWithShape="1">
          <a:blip r:embed="rId5">
            <a:alphaModFix/>
          </a:blip>
          <a:srcRect b="11677" l="0" r="0" t="23086"/>
          <a:stretch/>
        </p:blipFill>
        <p:spPr>
          <a:xfrm>
            <a:off x="5996000" y="1316450"/>
            <a:ext cx="2851126" cy="1859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/>
          <p:nvPr>
            <p:ph idx="4294967295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43"/>
          <p:cNvSpPr txBox="1"/>
          <p:nvPr>
            <p:ph type="title"/>
          </p:nvPr>
        </p:nvSpPr>
        <p:spPr>
          <a:xfrm>
            <a:off x="1195425" y="734050"/>
            <a:ext cx="4688100" cy="15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/ exploring the dataset</a:t>
            </a:r>
            <a:endParaRPr/>
          </a:p>
        </p:txBody>
      </p:sp>
      <p:sp>
        <p:nvSpPr>
          <p:cNvPr id="489" name="Google Shape;489;p4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90" name="Google Shape;490;p43"/>
          <p:cNvSpPr/>
          <p:nvPr/>
        </p:nvSpPr>
        <p:spPr>
          <a:xfrm>
            <a:off x="4327250" y="2311491"/>
            <a:ext cx="2298900" cy="1731300"/>
          </a:xfrm>
          <a:prstGeom prst="rect">
            <a:avLst/>
          </a:prstGeom>
          <a:solidFill>
            <a:srgbClr val="3C78D8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1" name="Google Shape;49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839" y="2394151"/>
            <a:ext cx="1995731" cy="15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4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44"/>
          <p:cNvSpPr txBox="1"/>
          <p:nvPr>
            <p:ph idx="1" type="body"/>
          </p:nvPr>
        </p:nvSpPr>
        <p:spPr>
          <a:xfrm>
            <a:off x="1705750" y="1223400"/>
            <a:ext cx="57552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exend SemiBold"/>
              <a:buChar char="●"/>
            </a:pPr>
            <a: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  <a:t>Diabetes occurs when the body doesn’t produce enough insulin or can’t use it effectively</a:t>
            </a:r>
            <a:endParaRPr sz="13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exend SemiBold"/>
              <a:buChar char="●"/>
            </a:pPr>
            <a: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  <a:t>Without proper insulin function, blood sugar stays high and can damage nerves, blood vessels, and other systems over time.</a:t>
            </a:r>
            <a:b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</a:br>
            <a:endParaRPr sz="13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exend SemiBold"/>
              <a:buChar char="●"/>
            </a:pPr>
            <a: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  <a:t>Different types of diabetes include: pre-diabetes, type 1, type 2 and gestational diabetes.</a:t>
            </a:r>
            <a:b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</a:br>
            <a:endParaRPr sz="13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exend SemiBold"/>
              <a:buChar char="●"/>
            </a:pPr>
            <a: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  <a:t>Type 1 is autoimmune and mostly genetic </a:t>
            </a:r>
            <a: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  <a:t>whereas</a:t>
            </a:r>
            <a: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  <a:t>, type 2 is largely linked to lifestyle factors.</a:t>
            </a:r>
            <a:b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</a:br>
            <a:endParaRPr sz="13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exend SemiBold"/>
              <a:buChar char="●"/>
            </a:pPr>
            <a:r>
              <a:rPr lang="en" sz="1300">
                <a:latin typeface="Lexend SemiBold"/>
                <a:ea typeface="Lexend SemiBold"/>
                <a:cs typeface="Lexend SemiBold"/>
                <a:sym typeface="Lexend SemiBold"/>
              </a:rPr>
              <a:t>Risk can be reduced or delayed through a healthy BMI, regular physical activity, a balanced diet, and avoiding tobacco.</a:t>
            </a:r>
            <a:endParaRPr>
              <a:solidFill>
                <a:srgbClr val="3C42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98" name="Google Shape;498;p4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diabetes?</a:t>
            </a:r>
            <a:endParaRPr/>
          </a:p>
        </p:txBody>
      </p:sp>
      <p:sp>
        <p:nvSpPr>
          <p:cNvPr id="499" name="Google Shape;499;p44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4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279174" y="338025"/>
            <a:ext cx="6253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60"/>
              <a:t>Aim of this CAPSTONE project</a:t>
            </a:r>
            <a:endParaRPr sz="2960"/>
          </a:p>
        </p:txBody>
      </p:sp>
      <p:sp>
        <p:nvSpPr>
          <p:cNvPr id="507" name="Google Shape;507;p45"/>
          <p:cNvSpPr txBox="1"/>
          <p:nvPr>
            <p:ph idx="4" type="body"/>
          </p:nvPr>
        </p:nvSpPr>
        <p:spPr>
          <a:xfrm>
            <a:off x="342343" y="1275574"/>
            <a:ext cx="3460500" cy="32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uk: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Nearly ~ 1.8 million people living with undiagnosed type 2 diabetes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According to WHO: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 2021 - there were 1.6 million diabetes related deaths [2]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project, I am building a predictive machine learning model.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Diabetes is a major health issue, and current screening methods often identify the condition only after symptoms become more serious.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8" name="Google Shape;508;p45"/>
          <p:cNvPicPr preferRelativeResize="0"/>
          <p:nvPr/>
        </p:nvPicPr>
        <p:blipFill rotWithShape="1">
          <a:blip r:embed="rId3">
            <a:alphaModFix/>
          </a:blip>
          <a:srcRect b="0" l="0" r="8991" t="0"/>
          <a:stretch/>
        </p:blipFill>
        <p:spPr>
          <a:xfrm>
            <a:off x="6768375" y="3188050"/>
            <a:ext cx="1622800" cy="14944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9" name="Google Shape;509;p45"/>
          <p:cNvSpPr/>
          <p:nvPr/>
        </p:nvSpPr>
        <p:spPr>
          <a:xfrm>
            <a:off x="3802841" y="1981050"/>
            <a:ext cx="3117600" cy="1954200"/>
          </a:xfrm>
          <a:prstGeom prst="rect">
            <a:avLst/>
          </a:prstGeom>
          <a:solidFill>
            <a:srgbClr val="D5A6B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45"/>
          <p:cNvSpPr txBox="1"/>
          <p:nvPr/>
        </p:nvSpPr>
        <p:spPr>
          <a:xfrm>
            <a:off x="4047000" y="2039375"/>
            <a:ext cx="28806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My goal is to use machine learning to recognise subtle patterns and early indicators that might otherwise be missed.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516" name="Google Shape;516;p4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pic>
        <p:nvPicPr>
          <p:cNvPr id="517" name="Google Shape;517;p46"/>
          <p:cNvPicPr preferRelativeResize="0"/>
          <p:nvPr/>
        </p:nvPicPr>
        <p:blipFill rotWithShape="1">
          <a:blip r:embed="rId3">
            <a:alphaModFix/>
          </a:blip>
          <a:srcRect b="0" l="0" r="39838" t="8709"/>
          <a:stretch/>
        </p:blipFill>
        <p:spPr>
          <a:xfrm>
            <a:off x="6005913" y="1097325"/>
            <a:ext cx="1971576" cy="3492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8" name="Google Shape;518;p46"/>
          <p:cNvSpPr txBox="1"/>
          <p:nvPr/>
        </p:nvSpPr>
        <p:spPr>
          <a:xfrm>
            <a:off x="406450" y="1361150"/>
            <a:ext cx="3218700" cy="2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Kaggle ‘Diabetes health indicators dataset’ contains 10,000 patient records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 includes features based on demographics, lifestyle habits, family history and clinical measurements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Columns contain mix of data types (integers, objects and floats)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7"/>
          <p:cNvSpPr txBox="1"/>
          <p:nvPr>
            <p:ph type="title"/>
          </p:nvPr>
        </p:nvSpPr>
        <p:spPr>
          <a:xfrm>
            <a:off x="248660" y="212450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60"/>
              <a:t>Exploratory data analysis: correlation heatmap</a:t>
            </a:r>
            <a:endParaRPr sz="2560"/>
          </a:p>
        </p:txBody>
      </p:sp>
      <p:sp>
        <p:nvSpPr>
          <p:cNvPr id="524" name="Google Shape;524;p4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25" name="Google Shape;525;p47"/>
          <p:cNvSpPr txBox="1"/>
          <p:nvPr/>
        </p:nvSpPr>
        <p:spPr>
          <a:xfrm>
            <a:off x="292600" y="1218025"/>
            <a:ext cx="3496800" cy="3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Observations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Strong positive relationship between hba1c and glucose-postprandial/glucose-fasting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Strong positive relationship between ldl_cholestrol and cholestrol_total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Strong positive relationship between BMI and waist_to_hip_ratio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Strong positive relationship between diabetes risk score and glucose fasting/family-history diabetes/age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6" name="Google Shape;5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800" y="1013325"/>
            <a:ext cx="3962951" cy="40584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Multicollinearity in data</a:t>
            </a:r>
            <a:endParaRPr/>
          </a:p>
        </p:txBody>
      </p:sp>
      <p:sp>
        <p:nvSpPr>
          <p:cNvPr id="532" name="Google Shape;532;p4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pic>
        <p:nvPicPr>
          <p:cNvPr id="533" name="Google Shape;5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650" y="1048550"/>
            <a:ext cx="3906712" cy="39771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4" name="Google Shape;534;p48"/>
          <p:cNvSpPr txBox="1"/>
          <p:nvPr/>
        </p:nvSpPr>
        <p:spPr>
          <a:xfrm>
            <a:off x="420050" y="1373775"/>
            <a:ext cx="3228000" cy="29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Multicollinearity occurs when two or more predictor variables are closely related, this can make the machine learning model less reliable.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avoid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this a few columns were removed: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Diabetic risk score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Diabetes stage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Cholesterol total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Waist to hip ratio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Glucose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postprandial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Glucose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fasting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48"/>
          <p:cNvSpPr/>
          <p:nvPr/>
        </p:nvSpPr>
        <p:spPr>
          <a:xfrm>
            <a:off x="1125600" y="4037250"/>
            <a:ext cx="3563100" cy="9438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48"/>
          <p:cNvSpPr txBox="1"/>
          <p:nvPr/>
        </p:nvSpPr>
        <p:spPr>
          <a:xfrm>
            <a:off x="1247900" y="4090175"/>
            <a:ext cx="3361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diet score column was also removed. This is a ‘subjective’ column and could skew the final result unfairly.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9"/>
          <p:cNvSpPr txBox="1"/>
          <p:nvPr>
            <p:ph idx="4294967295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49"/>
          <p:cNvSpPr txBox="1"/>
          <p:nvPr>
            <p:ph type="title"/>
          </p:nvPr>
        </p:nvSpPr>
        <p:spPr>
          <a:xfrm>
            <a:off x="1721825" y="727050"/>
            <a:ext cx="4648800" cy="15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building and testing</a:t>
            </a:r>
            <a:endParaRPr/>
          </a:p>
        </p:txBody>
      </p:sp>
      <p:sp>
        <p:nvSpPr>
          <p:cNvPr id="543" name="Google Shape;543;p4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pic>
        <p:nvPicPr>
          <p:cNvPr id="544" name="Google Shape;54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200" y="2297100"/>
            <a:ext cx="2654398" cy="2538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5" name="Google Shape;545;p49"/>
          <p:cNvSpPr/>
          <p:nvPr/>
        </p:nvSpPr>
        <p:spPr>
          <a:xfrm>
            <a:off x="3793600" y="2297100"/>
            <a:ext cx="1831200" cy="1625700"/>
          </a:xfrm>
          <a:prstGeom prst="rect">
            <a:avLst/>
          </a:prstGeom>
          <a:solidFill>
            <a:srgbClr val="6D9EE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0"/>
          <p:cNvSpPr txBox="1"/>
          <p:nvPr>
            <p:ph idx="4294967295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5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52" name="Google Shape;552;p50"/>
          <p:cNvSpPr/>
          <p:nvPr/>
        </p:nvSpPr>
        <p:spPr>
          <a:xfrm>
            <a:off x="128050" y="147650"/>
            <a:ext cx="6264900" cy="80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50"/>
          <p:cNvSpPr txBox="1"/>
          <p:nvPr/>
        </p:nvSpPr>
        <p:spPr>
          <a:xfrm>
            <a:off x="84975" y="220375"/>
            <a:ext cx="6534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Evaluation metrics: testing validity of my models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50"/>
          <p:cNvSpPr/>
          <p:nvPr/>
        </p:nvSpPr>
        <p:spPr>
          <a:xfrm>
            <a:off x="1015150" y="763675"/>
            <a:ext cx="5754300" cy="7170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50"/>
          <p:cNvSpPr txBox="1"/>
          <p:nvPr/>
        </p:nvSpPr>
        <p:spPr>
          <a:xfrm>
            <a:off x="956232" y="801350"/>
            <a:ext cx="59211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used the ‘recall’ metric to check the reliability of the models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Recall (sensitivity/ true positive rate) is a “metric that measures the ability of a model to correctly identify all the relevant instances”[1]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6" name="Google Shape;55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875" y="1550083"/>
            <a:ext cx="3956651" cy="65741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0"/>
          <p:cNvSpPr/>
          <p:nvPr/>
        </p:nvSpPr>
        <p:spPr>
          <a:xfrm>
            <a:off x="622350" y="2511575"/>
            <a:ext cx="3829800" cy="23961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In medical ML models, missing a positive case (</a:t>
            </a:r>
            <a:r>
              <a:rPr i="1" lang="en">
                <a:latin typeface="Lexend"/>
                <a:ea typeface="Lexend"/>
                <a:cs typeface="Lexend"/>
                <a:sym typeface="Lexend"/>
              </a:rPr>
              <a:t>false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">
                <a:latin typeface="Lexend"/>
                <a:ea typeface="Lexend"/>
                <a:cs typeface="Lexend"/>
                <a:sym typeface="Lexend"/>
              </a:rPr>
              <a:t>negative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) is more serious than incorrectly flagging someone as positive for a disease (</a:t>
            </a:r>
            <a:r>
              <a:rPr i="1" lang="en">
                <a:latin typeface="Lexend"/>
                <a:ea typeface="Lexend"/>
                <a:cs typeface="Lexend"/>
                <a:sym typeface="Lexend"/>
              </a:rPr>
              <a:t>false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">
                <a:latin typeface="Lexend"/>
                <a:ea typeface="Lexend"/>
                <a:cs typeface="Lexend"/>
                <a:sym typeface="Lexend"/>
              </a:rPr>
              <a:t>positive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50"/>
          <p:cNvSpPr/>
          <p:nvPr/>
        </p:nvSpPr>
        <p:spPr>
          <a:xfrm>
            <a:off x="4919750" y="2460450"/>
            <a:ext cx="4039500" cy="1913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50"/>
          <p:cNvSpPr txBox="1"/>
          <p:nvPr/>
        </p:nvSpPr>
        <p:spPr>
          <a:xfrm>
            <a:off x="4967775" y="2453725"/>
            <a:ext cx="39567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use eval metrics? 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Provide model performance insights (data quality, correctness, error types, bias)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Assess models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reliability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Allows fair comparison of different model types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Helps to inform hyperparameter tuning process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Identifies model limitations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1"/>
          <p:cNvSpPr txBox="1"/>
          <p:nvPr>
            <p:ph idx="4294967295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5" name="Google Shape;565;p5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66" name="Google Shape;566;p51"/>
          <p:cNvSpPr/>
          <p:nvPr/>
        </p:nvSpPr>
        <p:spPr>
          <a:xfrm>
            <a:off x="128050" y="147650"/>
            <a:ext cx="6264900" cy="80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51"/>
          <p:cNvSpPr txBox="1"/>
          <p:nvPr/>
        </p:nvSpPr>
        <p:spPr>
          <a:xfrm>
            <a:off x="158250" y="114293"/>
            <a:ext cx="63606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Evaluation metrics: testing validity of my models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8" name="Google Shape;5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725" y="1135800"/>
            <a:ext cx="3274776" cy="10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1"/>
          <p:cNvSpPr/>
          <p:nvPr/>
        </p:nvSpPr>
        <p:spPr>
          <a:xfrm>
            <a:off x="244600" y="2313750"/>
            <a:ext cx="3433800" cy="1580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51"/>
          <p:cNvSpPr txBox="1"/>
          <p:nvPr/>
        </p:nvSpPr>
        <p:spPr>
          <a:xfrm>
            <a:off x="414050" y="2426175"/>
            <a:ext cx="3147900" cy="14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F1 : the harmonic mean of the precision and recall score in a classification model.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scores contribute equally to indicate a reliability of a model.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71" name="Google Shape;571;p51"/>
          <p:cNvGraphicFramePr/>
          <p:nvPr/>
        </p:nvGraphicFramePr>
        <p:xfrm>
          <a:off x="4669550" y="242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{BD262421-A0B6-4BCB-A1D6-9E8262A1336B}</a:tableStyleId>
              </a:tblPr>
              <a:tblGrid>
                <a:gridCol w="1764400"/>
                <a:gridCol w="1764400"/>
              </a:tblGrid>
              <a:tr h="4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Interpretation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0.9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good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0.8 - 0.9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0.5 - 0.8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Ok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 0.5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good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2"/>
          <p:cNvSpPr/>
          <p:nvPr/>
        </p:nvSpPr>
        <p:spPr>
          <a:xfrm>
            <a:off x="148325" y="152650"/>
            <a:ext cx="2068200" cy="3425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52"/>
          <p:cNvSpPr txBox="1"/>
          <p:nvPr>
            <p:ph type="title"/>
          </p:nvPr>
        </p:nvSpPr>
        <p:spPr>
          <a:xfrm>
            <a:off x="148331" y="292600"/>
            <a:ext cx="16851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models: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2622"/>
              <a:t>minimum and maximum</a:t>
            </a:r>
            <a:endParaRPr sz="2622"/>
          </a:p>
        </p:txBody>
      </p:sp>
      <p:pic>
        <p:nvPicPr>
          <p:cNvPr id="578" name="Google Shape;578;p52"/>
          <p:cNvPicPr preferRelativeResize="0"/>
          <p:nvPr/>
        </p:nvPicPr>
        <p:blipFill rotWithShape="1">
          <a:blip r:embed="rId3">
            <a:alphaModFix/>
          </a:blip>
          <a:srcRect b="5006" l="0" r="0" t="0"/>
          <a:stretch/>
        </p:blipFill>
        <p:spPr>
          <a:xfrm>
            <a:off x="2216525" y="756348"/>
            <a:ext cx="6813176" cy="426940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9" name="Google Shape;579;p5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3"/>
          <p:cNvSpPr/>
          <p:nvPr/>
        </p:nvSpPr>
        <p:spPr>
          <a:xfrm>
            <a:off x="607525" y="1013325"/>
            <a:ext cx="4815000" cy="4011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5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586" name="Google Shape;586;p5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60"/>
              <a:t>‘Minimum’ model metric scores</a:t>
            </a:r>
            <a:endParaRPr sz="27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3"/>
          <p:cNvSpPr/>
          <p:nvPr/>
        </p:nvSpPr>
        <p:spPr>
          <a:xfrm>
            <a:off x="5729000" y="121875"/>
            <a:ext cx="2088600" cy="56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Before parameter fine tuning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53"/>
          <p:cNvSpPr/>
          <p:nvPr/>
        </p:nvSpPr>
        <p:spPr>
          <a:xfrm>
            <a:off x="6062675" y="1321650"/>
            <a:ext cx="2660400" cy="1035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53"/>
          <p:cNvSpPr txBox="1"/>
          <p:nvPr/>
        </p:nvSpPr>
        <p:spPr>
          <a:xfrm>
            <a:off x="6050590" y="1403325"/>
            <a:ext cx="27981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LR model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outperforms RF + XGBoost in all classification metrics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90" name="Google Shape;59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137" y="1075163"/>
            <a:ext cx="4049550" cy="3887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4"/>
          <p:cNvSpPr/>
          <p:nvPr/>
        </p:nvSpPr>
        <p:spPr>
          <a:xfrm>
            <a:off x="607525" y="1013325"/>
            <a:ext cx="4815000" cy="4011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6" name="Google Shape;596;p5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97" name="Google Shape;597;p5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60"/>
              <a:t>‘Maximum’ model metric scores</a:t>
            </a:r>
            <a:endParaRPr sz="27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4"/>
          <p:cNvSpPr/>
          <p:nvPr/>
        </p:nvSpPr>
        <p:spPr>
          <a:xfrm>
            <a:off x="5729000" y="121875"/>
            <a:ext cx="2088600" cy="56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Before parameter fine tuning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9" name="Google Shape;599;p54"/>
          <p:cNvSpPr/>
          <p:nvPr/>
        </p:nvSpPr>
        <p:spPr>
          <a:xfrm>
            <a:off x="6062675" y="1321650"/>
            <a:ext cx="2660400" cy="1035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0" name="Google Shape;600;p54"/>
          <p:cNvSpPr txBox="1"/>
          <p:nvPr/>
        </p:nvSpPr>
        <p:spPr>
          <a:xfrm>
            <a:off x="5883490" y="1396000"/>
            <a:ext cx="27981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LR model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outperforms RF + XGBoost in recall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RF + XGBoost outperforms in all other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categories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1" name="Google Shape;60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25" y="1131150"/>
            <a:ext cx="4677475" cy="3701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5"/>
          <p:cNvSpPr txBox="1"/>
          <p:nvPr>
            <p:ph idx="4294967295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7" name="Google Shape;607;p5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608" name="Google Shape;608;p55"/>
          <p:cNvSpPr/>
          <p:nvPr/>
        </p:nvSpPr>
        <p:spPr>
          <a:xfrm>
            <a:off x="128050" y="147650"/>
            <a:ext cx="6264900" cy="804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55"/>
          <p:cNvSpPr txBox="1"/>
          <p:nvPr/>
        </p:nvSpPr>
        <p:spPr>
          <a:xfrm>
            <a:off x="114300" y="209893"/>
            <a:ext cx="63606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winner… logistic regression!</a:t>
            </a:r>
            <a:endParaRPr sz="2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0" name="Google Shape;610;p55"/>
          <p:cNvSpPr/>
          <p:nvPr/>
        </p:nvSpPr>
        <p:spPr>
          <a:xfrm>
            <a:off x="114300" y="1376900"/>
            <a:ext cx="4119600" cy="3607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1" name="Google Shape;61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552" y="1478850"/>
            <a:ext cx="3262374" cy="3262374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5"/>
          <p:cNvSpPr/>
          <p:nvPr/>
        </p:nvSpPr>
        <p:spPr>
          <a:xfrm>
            <a:off x="4110525" y="1068275"/>
            <a:ext cx="4786800" cy="3672900"/>
          </a:xfrm>
          <a:prstGeom prst="rect">
            <a:avLst/>
          </a:prstGeom>
          <a:solidFill>
            <a:srgbClr val="8E7CC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3" name="Google Shape;613;p55"/>
          <p:cNvSpPr txBox="1"/>
          <p:nvPr/>
        </p:nvSpPr>
        <p:spPr>
          <a:xfrm>
            <a:off x="4192800" y="1143725"/>
            <a:ext cx="45813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LR model was optimised by tuning the parameters - this was done using GridSearchCV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of the most important areas to consider was the threshold (this determines the class label of the prediction)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default threshold is usually 0.5 (the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prediction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classified as ‘diabetic’ if the probability is greater than or equal to the threshold)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way of improving recall was to lower the threshold but lowering the threshold also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reduced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precision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6"/>
          <p:cNvSpPr txBox="1"/>
          <p:nvPr>
            <p:ph idx="4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tuned min model</a:t>
            </a:r>
            <a:endParaRPr/>
          </a:p>
        </p:txBody>
      </p:sp>
      <p:sp>
        <p:nvSpPr>
          <p:cNvPr id="619" name="Google Shape;619;p5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sp>
        <p:nvSpPr>
          <p:cNvPr id="620" name="Google Shape;620;p56"/>
          <p:cNvSpPr/>
          <p:nvPr/>
        </p:nvSpPr>
        <p:spPr>
          <a:xfrm>
            <a:off x="114300" y="1013325"/>
            <a:ext cx="8813400" cy="401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925" y="1580875"/>
            <a:ext cx="3767975" cy="31643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2" name="Google Shape;62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152" y="1084150"/>
            <a:ext cx="4137350" cy="384870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3" name="Google Shape;62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0454" y="1084150"/>
            <a:ext cx="560225" cy="406600"/>
          </a:xfrm>
          <a:prstGeom prst="rect">
            <a:avLst/>
          </a:prstGeom>
          <a:solidFill>
            <a:srgbClr val="8E7CC3"/>
          </a:solidFill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7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5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tuned max model</a:t>
            </a:r>
            <a:endParaRPr/>
          </a:p>
        </p:txBody>
      </p:sp>
      <p:sp>
        <p:nvSpPr>
          <p:cNvPr id="630" name="Google Shape;630;p57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1" name="Google Shape;631;p5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632" name="Google Shape;632;p57"/>
          <p:cNvSpPr/>
          <p:nvPr/>
        </p:nvSpPr>
        <p:spPr>
          <a:xfrm>
            <a:off x="171275" y="1038700"/>
            <a:ext cx="8792400" cy="3987000"/>
          </a:xfrm>
          <a:prstGeom prst="rect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3" name="Google Shape;63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602" y="1396925"/>
            <a:ext cx="3416700" cy="2797521"/>
          </a:xfrm>
          <a:prstGeom prst="rect">
            <a:avLst/>
          </a:prstGeom>
          <a:solidFill>
            <a:srgbClr val="8E7CC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4" name="Google Shape;63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50" y="1073448"/>
            <a:ext cx="4039324" cy="3840103"/>
          </a:xfrm>
          <a:prstGeom prst="rect">
            <a:avLst/>
          </a:prstGeom>
          <a:solidFill>
            <a:srgbClr val="8E7CC3"/>
          </a:solidFill>
          <a:ln>
            <a:noFill/>
          </a:ln>
        </p:spPr>
      </p:pic>
      <p:pic>
        <p:nvPicPr>
          <p:cNvPr id="635" name="Google Shape;63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8504" y="1073450"/>
            <a:ext cx="560225" cy="406600"/>
          </a:xfrm>
          <a:prstGeom prst="rect">
            <a:avLst/>
          </a:prstGeom>
          <a:solidFill>
            <a:srgbClr val="8E7CC3"/>
          </a:solidFill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8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1" name="Google Shape;641;p5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59"/>
              <a:t>Feature importance</a:t>
            </a:r>
            <a:endParaRPr sz="3359"/>
          </a:p>
        </p:txBody>
      </p:sp>
      <p:sp>
        <p:nvSpPr>
          <p:cNvPr id="642" name="Google Shape;642;p58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5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644" name="Google Shape;644;p58"/>
          <p:cNvSpPr/>
          <p:nvPr/>
        </p:nvSpPr>
        <p:spPr>
          <a:xfrm>
            <a:off x="171275" y="1038700"/>
            <a:ext cx="8792400" cy="3987000"/>
          </a:xfrm>
          <a:prstGeom prst="rect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5" name="Google Shape;64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0399"/>
            <a:ext cx="5269848" cy="2679209"/>
          </a:xfrm>
          <a:prstGeom prst="rect">
            <a:avLst/>
          </a:prstGeom>
          <a:solidFill>
            <a:srgbClr val="8E7CC3"/>
          </a:solidFill>
          <a:ln>
            <a:noFill/>
          </a:ln>
        </p:spPr>
      </p:pic>
      <p:pic>
        <p:nvPicPr>
          <p:cNvPr id="646" name="Google Shape;646;p58"/>
          <p:cNvPicPr preferRelativeResize="0"/>
          <p:nvPr/>
        </p:nvPicPr>
        <p:blipFill rotWithShape="1">
          <a:blip r:embed="rId4">
            <a:alphaModFix/>
          </a:blip>
          <a:srcRect b="0" l="6699" r="0" t="0"/>
          <a:stretch/>
        </p:blipFill>
        <p:spPr>
          <a:xfrm>
            <a:off x="4022101" y="2221475"/>
            <a:ext cx="5269850" cy="280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8"/>
          <p:cNvSpPr txBox="1"/>
          <p:nvPr/>
        </p:nvSpPr>
        <p:spPr>
          <a:xfrm>
            <a:off x="5515400" y="1122275"/>
            <a:ext cx="2800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model: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features were </a:t>
            </a: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family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diabetes and </a:t>
            </a: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58"/>
          <p:cNvSpPr txBox="1"/>
          <p:nvPr/>
        </p:nvSpPr>
        <p:spPr>
          <a:xfrm>
            <a:off x="292600" y="3759175"/>
            <a:ext cx="35925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Max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model: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features were </a:t>
            </a: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HBA1C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f</a:t>
            </a: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amily history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diabetes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activity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 a negative coefficient in both models.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9"/>
          <p:cNvSpPr txBox="1"/>
          <p:nvPr>
            <p:ph idx="4294967295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59"/>
          <p:cNvSpPr txBox="1"/>
          <p:nvPr>
            <p:ph type="title"/>
          </p:nvPr>
        </p:nvSpPr>
        <p:spPr>
          <a:xfrm>
            <a:off x="1721825" y="727050"/>
            <a:ext cx="4648800" cy="15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655" name="Google Shape;655;p5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656" name="Google Shape;656;p59"/>
          <p:cNvSpPr/>
          <p:nvPr/>
        </p:nvSpPr>
        <p:spPr>
          <a:xfrm>
            <a:off x="3793600" y="2297100"/>
            <a:ext cx="1831200" cy="1625700"/>
          </a:xfrm>
          <a:prstGeom prst="rect">
            <a:avLst/>
          </a:prstGeom>
          <a:solidFill>
            <a:srgbClr val="6D9EE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7" name="Google Shape;65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551" y="2297100"/>
            <a:ext cx="2827047" cy="27286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8" name="Google Shape;658;p59"/>
          <p:cNvSpPr/>
          <p:nvPr/>
        </p:nvSpPr>
        <p:spPr>
          <a:xfrm>
            <a:off x="5624800" y="2300000"/>
            <a:ext cx="1831200" cy="1262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0"/>
          <p:cNvSpPr/>
          <p:nvPr/>
        </p:nvSpPr>
        <p:spPr>
          <a:xfrm>
            <a:off x="248525" y="1207800"/>
            <a:ext cx="4153800" cy="2912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4" name="Google Shape;664;p60"/>
          <p:cNvSpPr/>
          <p:nvPr/>
        </p:nvSpPr>
        <p:spPr>
          <a:xfrm>
            <a:off x="214700" y="209550"/>
            <a:ext cx="7901400" cy="837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60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6" name="Google Shape;666;p60"/>
          <p:cNvSpPr txBox="1"/>
          <p:nvPr>
            <p:ph idx="1" type="body"/>
          </p:nvPr>
        </p:nvSpPr>
        <p:spPr>
          <a:xfrm>
            <a:off x="292600" y="1258950"/>
            <a:ext cx="40260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D1D1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300"/>
              <a:buFont typeface="Lexend SemiBold"/>
              <a:buChar char="●"/>
            </a:pPr>
            <a:r>
              <a:rPr lang="en" sz="1300">
                <a:solidFill>
                  <a:srgbClr val="1D1D1D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Some important variables not included (e.g. medication history)</a:t>
            </a:r>
            <a:endParaRPr sz="1300">
              <a:solidFill>
                <a:srgbClr val="1D1D1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D1D1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300"/>
              <a:buFont typeface="Lexend SemiBold"/>
              <a:buChar char="●"/>
            </a:pPr>
            <a:r>
              <a:rPr lang="en" sz="1300">
                <a:solidFill>
                  <a:srgbClr val="1D1D1D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Logistic regression model may not pick up complex relationships between certain variables (biological relationships aren’t linear)</a:t>
            </a:r>
            <a:endParaRPr sz="1300">
              <a:solidFill>
                <a:srgbClr val="1D1D1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D1D1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D1D1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D1D1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67" name="Google Shape;667;p60"/>
          <p:cNvSpPr txBox="1"/>
          <p:nvPr>
            <p:ph type="title"/>
          </p:nvPr>
        </p:nvSpPr>
        <p:spPr>
          <a:xfrm>
            <a:off x="253700" y="371850"/>
            <a:ext cx="78234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60"/>
              <a:t>Limitations and future improvements</a:t>
            </a:r>
            <a:endParaRPr sz="2760"/>
          </a:p>
        </p:txBody>
      </p:sp>
      <p:sp>
        <p:nvSpPr>
          <p:cNvPr id="668" name="Google Shape;668;p60"/>
          <p:cNvSpPr/>
          <p:nvPr/>
        </p:nvSpPr>
        <p:spPr>
          <a:xfrm>
            <a:off x="4402325" y="1207800"/>
            <a:ext cx="4153800" cy="3189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60"/>
          <p:cNvSpPr txBox="1"/>
          <p:nvPr/>
        </p:nvSpPr>
        <p:spPr>
          <a:xfrm>
            <a:off x="4631725" y="1436225"/>
            <a:ext cx="3764700" cy="3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SemiBold"/>
              <a:buChar char="●"/>
            </a:pPr>
            <a:r>
              <a:rPr lang="en" sz="1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Use some real world patient information to check validity of models</a:t>
            </a:r>
            <a:endParaRPr sz="1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SemiBold"/>
              <a:buChar char="●"/>
            </a:pPr>
            <a:r>
              <a:rPr lang="en" sz="1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Explore other advanced ML models</a:t>
            </a:r>
            <a:endParaRPr sz="1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SemiBold"/>
              <a:buChar char="●"/>
            </a:pPr>
            <a:r>
              <a:rPr lang="en" sz="1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Conduct a sensitivity analysis on the features</a:t>
            </a:r>
            <a:endParaRPr sz="1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SemiBold"/>
              <a:buChar char="●"/>
            </a:pPr>
            <a:r>
              <a:rPr lang="en" sz="1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Display </a:t>
            </a:r>
            <a:r>
              <a:rPr lang="en" sz="1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recommendation</a:t>
            </a:r>
            <a:r>
              <a:rPr lang="en" sz="1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advice on app if at risk of diabetes i.e. based of user behaviours, can increase exercise / reduce bodyweight</a:t>
            </a:r>
            <a:endParaRPr sz="1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70" name="Google Shape;670;p60"/>
          <p:cNvSpPr txBox="1"/>
          <p:nvPr>
            <p:ph idx="4294967295" type="sldNum"/>
          </p:nvPr>
        </p:nvSpPr>
        <p:spPr>
          <a:xfrm>
            <a:off x="8322488" y="20953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1"/>
          <p:cNvSpPr txBox="1"/>
          <p:nvPr>
            <p:ph type="title"/>
          </p:nvPr>
        </p:nvSpPr>
        <p:spPr>
          <a:xfrm>
            <a:off x="1172300" y="120820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676" name="Google Shape;676;p61"/>
          <p:cNvSpPr txBox="1"/>
          <p:nvPr>
            <p:ph idx="2" type="title"/>
          </p:nvPr>
        </p:nvSpPr>
        <p:spPr>
          <a:xfrm>
            <a:off x="4316875" y="2841575"/>
            <a:ext cx="1052100" cy="108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?</a:t>
            </a:r>
            <a:endParaRPr/>
          </a:p>
        </p:txBody>
      </p:sp>
      <p:sp>
        <p:nvSpPr>
          <p:cNvPr id="677" name="Google Shape;677;p6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ptions Proposal">
  <a:themeElements>
    <a:clrScheme name="Simple Light">
      <a:dk1>
        <a:srgbClr val="1D1D1D"/>
      </a:dk1>
      <a:lt1>
        <a:srgbClr val="FFFFF0"/>
      </a:lt1>
      <a:dk2>
        <a:srgbClr val="51BD85"/>
      </a:dk2>
      <a:lt2>
        <a:srgbClr val="FF6652"/>
      </a:lt2>
      <a:accent1>
        <a:srgbClr val="FFE534"/>
      </a:accent1>
      <a:accent2>
        <a:srgbClr val="FFBBDC"/>
      </a:accent2>
      <a:accent3>
        <a:srgbClr val="6AD2E6"/>
      </a:accent3>
      <a:accent4>
        <a:srgbClr val="DBC89F"/>
      </a:accent4>
      <a:accent5>
        <a:srgbClr val="D8E4D6"/>
      </a:accent5>
      <a:accent6>
        <a:srgbClr val="FFFFFF"/>
      </a:accent6>
      <a:hlink>
        <a:srgbClr val="6AD2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